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70" r:id="rId11"/>
    <p:sldId id="266" r:id="rId12"/>
    <p:sldId id="267" r:id="rId13"/>
    <p:sldId id="268" r:id="rId14"/>
    <p:sldId id="269" r:id="rId15"/>
  </p:sldIdLst>
  <p:sldSz cx="10693400" cy="7562850"/>
  <p:notesSz cx="10693400" cy="7562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3" d="100"/>
          <a:sy n="53" d="100"/>
        </p:scale>
        <p:origin x="1400" y="5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4483"/>
            <a:ext cx="9089390" cy="1588198"/>
          </a:xfrm>
          <a:prstGeom prst="rect">
            <a:avLst/>
          </a:prstGeom>
        </p:spPr>
        <p:txBody>
          <a:bodyPr wrap="square" lIns="0" tIns="0" rIns="0" bIns="0">
            <a:spAutoFit/>
          </a:bodyPr>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604010" y="4235196"/>
            <a:ext cx="7485380" cy="1890712"/>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898989"/>
                </a:solidFill>
                <a:latin typeface="Calibri"/>
                <a:cs typeface="Calibri"/>
              </a:defRPr>
            </a:lvl1pPr>
          </a:lstStyle>
          <a:p>
            <a:pPr marL="26034">
              <a:lnSpc>
                <a:spcPts val="1050"/>
              </a:lnSpc>
            </a:pPr>
            <a:r>
              <a:rPr dirty="0"/>
              <a:t>IV </a:t>
            </a:r>
            <a:r>
              <a:rPr spc="-20" dirty="0"/>
              <a:t>ECE-</a:t>
            </a:r>
            <a:r>
              <a:rPr dirty="0"/>
              <a:t>A</a:t>
            </a:r>
            <a:r>
              <a:rPr spc="215" dirty="0"/>
              <a:t>  </a:t>
            </a:r>
            <a:r>
              <a:rPr dirty="0"/>
              <a:t>BATCH</a:t>
            </a:r>
            <a:r>
              <a:rPr spc="-5" dirty="0"/>
              <a:t> </a:t>
            </a:r>
            <a:r>
              <a:rPr spc="-20" dirty="0"/>
              <a:t>NO.12</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12/23/2025</a:t>
            </a:fld>
            <a:endParaRPr lang="en-US"/>
          </a:p>
        </p:txBody>
      </p:sp>
      <p:sp>
        <p:nvSpPr>
          <p:cNvPr id="6" name="Holder 6"/>
          <p:cNvSpPr>
            <a:spLocks noGrp="1"/>
          </p:cNvSpPr>
          <p:nvPr>
            <p:ph type="sldNum" sz="quarter" idx="7"/>
          </p:nvPr>
        </p:nvSpPr>
        <p:spPr/>
        <p:txBody>
          <a:bodyPr lIns="0" tIns="0" rIns="0" bIns="0"/>
          <a:lstStyle>
            <a:lvl1pPr>
              <a:defRPr sz="1000" b="0" i="0">
                <a:solidFill>
                  <a:srgbClr val="898989"/>
                </a:solidFill>
                <a:latin typeface="Calibri"/>
                <a:cs typeface="Calibri"/>
              </a:defRPr>
            </a:lvl1pPr>
          </a:lstStyle>
          <a:p>
            <a:pPr marL="76835">
              <a:lnSpc>
                <a:spcPts val="1050"/>
              </a:lnSpc>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1000" b="0" i="0">
                <a:solidFill>
                  <a:srgbClr val="898989"/>
                </a:solidFill>
                <a:latin typeface="Calibri"/>
                <a:cs typeface="Calibri"/>
              </a:defRPr>
            </a:lvl1pPr>
          </a:lstStyle>
          <a:p>
            <a:pPr marL="26034">
              <a:lnSpc>
                <a:spcPts val="1050"/>
              </a:lnSpc>
            </a:pPr>
            <a:r>
              <a:rPr dirty="0"/>
              <a:t>IV </a:t>
            </a:r>
            <a:r>
              <a:rPr spc="-20" dirty="0"/>
              <a:t>ECE-</a:t>
            </a:r>
            <a:r>
              <a:rPr dirty="0"/>
              <a:t>A</a:t>
            </a:r>
            <a:r>
              <a:rPr spc="215" dirty="0"/>
              <a:t>  </a:t>
            </a:r>
            <a:r>
              <a:rPr dirty="0"/>
              <a:t>BATCH</a:t>
            </a:r>
            <a:r>
              <a:rPr spc="-5" dirty="0"/>
              <a:t> </a:t>
            </a:r>
            <a:r>
              <a:rPr spc="-20" dirty="0"/>
              <a:t>NO.12</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12/23/2025</a:t>
            </a:fld>
            <a:endParaRPr lang="en-US"/>
          </a:p>
        </p:txBody>
      </p:sp>
      <p:sp>
        <p:nvSpPr>
          <p:cNvPr id="6" name="Holder 6"/>
          <p:cNvSpPr>
            <a:spLocks noGrp="1"/>
          </p:cNvSpPr>
          <p:nvPr>
            <p:ph type="sldNum" sz="quarter" idx="7"/>
          </p:nvPr>
        </p:nvSpPr>
        <p:spPr/>
        <p:txBody>
          <a:bodyPr lIns="0" tIns="0" rIns="0" bIns="0"/>
          <a:lstStyle>
            <a:lvl1pPr>
              <a:defRPr sz="1000" b="0" i="0">
                <a:solidFill>
                  <a:srgbClr val="898989"/>
                </a:solidFill>
                <a:latin typeface="Calibri"/>
                <a:cs typeface="Calibri"/>
              </a:defRPr>
            </a:lvl1pPr>
          </a:lstStyle>
          <a:p>
            <a:pPr marL="76835">
              <a:lnSpc>
                <a:spcPts val="1050"/>
              </a:lnSpc>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534670" y="1739455"/>
            <a:ext cx="4651629" cy="499148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9455"/>
            <a:ext cx="4651629" cy="499148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00" b="0" i="0">
                <a:solidFill>
                  <a:srgbClr val="898989"/>
                </a:solidFill>
                <a:latin typeface="Calibri"/>
                <a:cs typeface="Calibri"/>
              </a:defRPr>
            </a:lvl1pPr>
          </a:lstStyle>
          <a:p>
            <a:pPr marL="26034">
              <a:lnSpc>
                <a:spcPts val="1050"/>
              </a:lnSpc>
            </a:pPr>
            <a:r>
              <a:rPr dirty="0"/>
              <a:t>IV </a:t>
            </a:r>
            <a:r>
              <a:rPr spc="-20" dirty="0"/>
              <a:t>ECE-</a:t>
            </a:r>
            <a:r>
              <a:rPr dirty="0"/>
              <a:t>A</a:t>
            </a:r>
            <a:r>
              <a:rPr spc="215" dirty="0"/>
              <a:t>  </a:t>
            </a:r>
            <a:r>
              <a:rPr dirty="0"/>
              <a:t>BATCH</a:t>
            </a:r>
            <a:r>
              <a:rPr spc="-5" dirty="0"/>
              <a:t> </a:t>
            </a:r>
            <a:r>
              <a:rPr spc="-20" dirty="0"/>
              <a:t>NO.12</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12/23/2025</a:t>
            </a:fld>
            <a:endParaRPr lang="en-US"/>
          </a:p>
        </p:txBody>
      </p:sp>
      <p:sp>
        <p:nvSpPr>
          <p:cNvPr id="7" name="Holder 7"/>
          <p:cNvSpPr>
            <a:spLocks noGrp="1"/>
          </p:cNvSpPr>
          <p:nvPr>
            <p:ph type="sldNum" sz="quarter" idx="7"/>
          </p:nvPr>
        </p:nvSpPr>
        <p:spPr/>
        <p:txBody>
          <a:bodyPr lIns="0" tIns="0" rIns="0" bIns="0"/>
          <a:lstStyle>
            <a:lvl1pPr>
              <a:defRPr sz="1000" b="0" i="0">
                <a:solidFill>
                  <a:srgbClr val="898989"/>
                </a:solidFill>
                <a:latin typeface="Calibri"/>
                <a:cs typeface="Calibri"/>
              </a:defRPr>
            </a:lvl1pPr>
          </a:lstStyle>
          <a:p>
            <a:pPr marL="76835">
              <a:lnSpc>
                <a:spcPts val="1050"/>
              </a:lnSpc>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000" b="0" i="0">
                <a:solidFill>
                  <a:srgbClr val="898989"/>
                </a:solidFill>
                <a:latin typeface="Calibri"/>
                <a:cs typeface="Calibri"/>
              </a:defRPr>
            </a:lvl1pPr>
          </a:lstStyle>
          <a:p>
            <a:pPr marL="26034">
              <a:lnSpc>
                <a:spcPts val="1050"/>
              </a:lnSpc>
            </a:pPr>
            <a:r>
              <a:rPr dirty="0"/>
              <a:t>IV </a:t>
            </a:r>
            <a:r>
              <a:rPr spc="-20" dirty="0"/>
              <a:t>ECE-</a:t>
            </a:r>
            <a:r>
              <a:rPr dirty="0"/>
              <a:t>A</a:t>
            </a:r>
            <a:r>
              <a:rPr spc="215" dirty="0"/>
              <a:t>  </a:t>
            </a:r>
            <a:r>
              <a:rPr dirty="0"/>
              <a:t>BATCH</a:t>
            </a:r>
            <a:r>
              <a:rPr spc="-5" dirty="0"/>
              <a:t> </a:t>
            </a:r>
            <a:r>
              <a:rPr spc="-20" dirty="0"/>
              <a:t>NO.12</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12/23/2025</a:t>
            </a:fld>
            <a:endParaRPr lang="en-US"/>
          </a:p>
        </p:txBody>
      </p:sp>
      <p:sp>
        <p:nvSpPr>
          <p:cNvPr id="5" name="Holder 5"/>
          <p:cNvSpPr>
            <a:spLocks noGrp="1"/>
          </p:cNvSpPr>
          <p:nvPr>
            <p:ph type="sldNum" sz="quarter" idx="7"/>
          </p:nvPr>
        </p:nvSpPr>
        <p:spPr/>
        <p:txBody>
          <a:bodyPr lIns="0" tIns="0" rIns="0" bIns="0"/>
          <a:lstStyle>
            <a:lvl1pPr>
              <a:defRPr sz="1000" b="0" i="0">
                <a:solidFill>
                  <a:srgbClr val="898989"/>
                </a:solidFill>
                <a:latin typeface="Calibri"/>
                <a:cs typeface="Calibri"/>
              </a:defRPr>
            </a:lvl1pPr>
          </a:lstStyle>
          <a:p>
            <a:pPr marL="76835">
              <a:lnSpc>
                <a:spcPts val="1050"/>
              </a:lnSpc>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00" b="0" i="0">
                <a:solidFill>
                  <a:srgbClr val="898989"/>
                </a:solidFill>
                <a:latin typeface="Calibri"/>
                <a:cs typeface="Calibri"/>
              </a:defRPr>
            </a:lvl1pPr>
          </a:lstStyle>
          <a:p>
            <a:pPr marL="26034">
              <a:lnSpc>
                <a:spcPts val="1050"/>
              </a:lnSpc>
            </a:pPr>
            <a:r>
              <a:rPr dirty="0"/>
              <a:t>IV </a:t>
            </a:r>
            <a:r>
              <a:rPr spc="-20" dirty="0"/>
              <a:t>ECE-</a:t>
            </a:r>
            <a:r>
              <a:rPr dirty="0"/>
              <a:t>A</a:t>
            </a:r>
            <a:r>
              <a:rPr spc="215" dirty="0"/>
              <a:t>  </a:t>
            </a:r>
            <a:r>
              <a:rPr dirty="0"/>
              <a:t>BATCH</a:t>
            </a:r>
            <a:r>
              <a:rPr spc="-5" dirty="0"/>
              <a:t> </a:t>
            </a:r>
            <a:r>
              <a:rPr spc="-20" dirty="0"/>
              <a:t>NO.12</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12/23/2025</a:t>
            </a:fld>
            <a:endParaRPr lang="en-US"/>
          </a:p>
        </p:txBody>
      </p:sp>
      <p:sp>
        <p:nvSpPr>
          <p:cNvPr id="4" name="Holder 4"/>
          <p:cNvSpPr>
            <a:spLocks noGrp="1"/>
          </p:cNvSpPr>
          <p:nvPr>
            <p:ph type="sldNum" sz="quarter" idx="7"/>
          </p:nvPr>
        </p:nvSpPr>
        <p:spPr/>
        <p:txBody>
          <a:bodyPr lIns="0" tIns="0" rIns="0" bIns="0"/>
          <a:lstStyle>
            <a:lvl1pPr>
              <a:defRPr sz="1000" b="0" i="0">
                <a:solidFill>
                  <a:srgbClr val="898989"/>
                </a:solidFill>
                <a:latin typeface="Calibri"/>
                <a:cs typeface="Calibri"/>
              </a:defRPr>
            </a:lvl1pPr>
          </a:lstStyle>
          <a:p>
            <a:pPr marL="76835">
              <a:lnSpc>
                <a:spcPts val="1050"/>
              </a:lnSpc>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83C07-363E-9891-7FD8-30A36AFBBCC6}"/>
              </a:ext>
            </a:extLst>
          </p:cNvPr>
          <p:cNvSpPr>
            <a:spLocks noGrp="1"/>
          </p:cNvSpPr>
          <p:nvPr>
            <p:ph type="ctrTitle"/>
          </p:nvPr>
        </p:nvSpPr>
        <p:spPr>
          <a:xfrm>
            <a:off x="1336675" y="3060807"/>
            <a:ext cx="8020050" cy="809902"/>
          </a:xfrm>
        </p:spPr>
        <p:txBody>
          <a:bodyPr anchor="b"/>
          <a:lstStyle>
            <a:lvl1pPr algn="ctr">
              <a:defRPr sz="5263"/>
            </a:lvl1pPr>
          </a:lstStyle>
          <a:p>
            <a:r>
              <a:rPr lang="en-US"/>
              <a:t>Click to edit Master title style</a:t>
            </a:r>
            <a:endParaRPr lang="en-IN"/>
          </a:p>
        </p:txBody>
      </p:sp>
      <p:sp>
        <p:nvSpPr>
          <p:cNvPr id="3" name="Subtitle 2">
            <a:extLst>
              <a:ext uri="{FF2B5EF4-FFF2-40B4-BE49-F238E27FC236}">
                <a16:creationId xmlns:a16="http://schemas.microsoft.com/office/drawing/2014/main" id="{A47CD811-E37F-E276-CB70-4FC7E16261AA}"/>
              </a:ext>
            </a:extLst>
          </p:cNvPr>
          <p:cNvSpPr>
            <a:spLocks noGrp="1"/>
          </p:cNvSpPr>
          <p:nvPr>
            <p:ph type="subTitle" idx="1"/>
          </p:nvPr>
        </p:nvSpPr>
        <p:spPr>
          <a:xfrm>
            <a:off x="1336675" y="3972247"/>
            <a:ext cx="8020050" cy="323935"/>
          </a:xfrm>
        </p:spPr>
        <p:txBody>
          <a:bodyPr/>
          <a:lstStyle>
            <a:lvl1pPr marL="0" indent="0" algn="ctr">
              <a:buNone/>
              <a:defRPr sz="2105"/>
            </a:lvl1pPr>
            <a:lvl2pPr marL="401010" indent="0" algn="ctr">
              <a:buNone/>
              <a:defRPr sz="1754"/>
            </a:lvl2pPr>
            <a:lvl3pPr marL="802020" indent="0" algn="ctr">
              <a:buNone/>
              <a:defRPr sz="1579"/>
            </a:lvl3pPr>
            <a:lvl4pPr marL="1203030" indent="0" algn="ctr">
              <a:buNone/>
              <a:defRPr sz="1403"/>
            </a:lvl4pPr>
            <a:lvl5pPr marL="1604040" indent="0" algn="ctr">
              <a:buNone/>
              <a:defRPr sz="1403"/>
            </a:lvl5pPr>
            <a:lvl6pPr marL="2005051" indent="0" algn="ctr">
              <a:buNone/>
              <a:defRPr sz="1403"/>
            </a:lvl6pPr>
            <a:lvl7pPr marL="2406061" indent="0" algn="ctr">
              <a:buNone/>
              <a:defRPr sz="1403"/>
            </a:lvl7pPr>
            <a:lvl8pPr marL="2807071" indent="0" algn="ctr">
              <a:buNone/>
              <a:defRPr sz="1403"/>
            </a:lvl8pPr>
            <a:lvl9pPr marL="3208081" indent="0" algn="ctr">
              <a:buNone/>
              <a:defRPr sz="1403"/>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A4A780E-72B6-7C8E-95D7-ECB2CB507B88}"/>
              </a:ext>
            </a:extLst>
          </p:cNvPr>
          <p:cNvSpPr>
            <a:spLocks noGrp="1"/>
          </p:cNvSpPr>
          <p:nvPr>
            <p:ph type="dt" sz="half" idx="10"/>
          </p:nvPr>
        </p:nvSpPr>
        <p:spPr>
          <a:xfrm>
            <a:off x="534670" y="7033450"/>
            <a:ext cx="2459482" cy="276999"/>
          </a:xfrm>
        </p:spPr>
        <p:txBody>
          <a:bodyPr/>
          <a:lstStyle/>
          <a:p>
            <a:fld id="{1353BBA4-9EDF-4633-BBE5-5E7CE8FE6FCC}" type="datetimeFigureOut">
              <a:rPr lang="en-IN" smtClean="0"/>
              <a:t>23-12-2025</a:t>
            </a:fld>
            <a:endParaRPr lang="en-IN"/>
          </a:p>
        </p:txBody>
      </p:sp>
      <p:sp>
        <p:nvSpPr>
          <p:cNvPr id="5" name="Footer Placeholder 4">
            <a:extLst>
              <a:ext uri="{FF2B5EF4-FFF2-40B4-BE49-F238E27FC236}">
                <a16:creationId xmlns:a16="http://schemas.microsoft.com/office/drawing/2014/main" id="{F5FB8D74-3FFA-E7B6-D3FF-7EA2B5BF72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C71CBD9-91DE-9636-4240-7F8FA6BADCD8}"/>
              </a:ext>
            </a:extLst>
          </p:cNvPr>
          <p:cNvSpPr>
            <a:spLocks noGrp="1"/>
          </p:cNvSpPr>
          <p:nvPr>
            <p:ph type="sldNum" sz="quarter" idx="12"/>
          </p:nvPr>
        </p:nvSpPr>
        <p:spPr/>
        <p:txBody>
          <a:bodyPr/>
          <a:lstStyle/>
          <a:p>
            <a:fld id="{01280502-C209-463D-B31B-7B664C84F844}" type="slidenum">
              <a:rPr lang="en-IN" smtClean="0"/>
              <a:t>‹#›</a:t>
            </a:fld>
            <a:endParaRPr lang="en-IN"/>
          </a:p>
        </p:txBody>
      </p:sp>
    </p:spTree>
    <p:extLst>
      <p:ext uri="{BB962C8B-B14F-4D97-AF65-F5344CB8AC3E}">
        <p14:creationId xmlns:p14="http://schemas.microsoft.com/office/powerpoint/2010/main" val="28450408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564671" y="441330"/>
            <a:ext cx="7564056" cy="924027"/>
          </a:xfrm>
          <a:prstGeom prst="rect">
            <a:avLst/>
          </a:prstGeom>
        </p:spPr>
        <p:txBody>
          <a:bodyPr wrap="square" lIns="0" tIns="0" rIns="0" bIns="0">
            <a:spAutoFit/>
          </a:bodyPr>
          <a:lstStyle>
            <a:lvl1pPr>
              <a:defRPr sz="36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1084590" y="2014292"/>
            <a:ext cx="8478520" cy="4149090"/>
          </a:xfrm>
          <a:prstGeom prst="rect">
            <a:avLst/>
          </a:prstGeom>
        </p:spPr>
        <p:txBody>
          <a:bodyPr wrap="square" lIns="0" tIns="0" rIns="0" bIns="0">
            <a:spAutoFit/>
          </a:bodyPr>
          <a:lstStyle>
            <a:lvl1pPr>
              <a:defRPr sz="18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693350" y="7143391"/>
            <a:ext cx="1303656" cy="152400"/>
          </a:xfrm>
          <a:prstGeom prst="rect">
            <a:avLst/>
          </a:prstGeom>
        </p:spPr>
        <p:txBody>
          <a:bodyPr wrap="square" lIns="0" tIns="0" rIns="0" bIns="0">
            <a:spAutoFit/>
          </a:bodyPr>
          <a:lstStyle>
            <a:lvl1pPr>
              <a:defRPr sz="1000" b="0" i="0">
                <a:solidFill>
                  <a:srgbClr val="898989"/>
                </a:solidFill>
                <a:latin typeface="Calibri"/>
                <a:cs typeface="Calibri"/>
              </a:defRPr>
            </a:lvl1pPr>
          </a:lstStyle>
          <a:p>
            <a:pPr marL="26034">
              <a:lnSpc>
                <a:spcPts val="1050"/>
              </a:lnSpc>
            </a:pPr>
            <a:r>
              <a:rPr dirty="0"/>
              <a:t>IV </a:t>
            </a:r>
            <a:r>
              <a:rPr spc="-20" dirty="0"/>
              <a:t>ECE-</a:t>
            </a:r>
            <a:r>
              <a:rPr dirty="0"/>
              <a:t>A</a:t>
            </a:r>
            <a:r>
              <a:rPr spc="215" dirty="0"/>
              <a:t>  </a:t>
            </a:r>
            <a:r>
              <a:rPr dirty="0"/>
              <a:t>BATCH</a:t>
            </a:r>
            <a:r>
              <a:rPr spc="-5" dirty="0"/>
              <a:t> </a:t>
            </a:r>
            <a:r>
              <a:rPr spc="-20" dirty="0"/>
              <a:t>NO.12</a:t>
            </a:r>
          </a:p>
        </p:txBody>
      </p:sp>
      <p:sp>
        <p:nvSpPr>
          <p:cNvPr id="5" name="Holder 5"/>
          <p:cNvSpPr>
            <a:spLocks noGrp="1"/>
          </p:cNvSpPr>
          <p:nvPr>
            <p:ph type="dt" sz="half" idx="6"/>
          </p:nvPr>
        </p:nvSpPr>
        <p:spPr>
          <a:xfrm>
            <a:off x="534670" y="7033450"/>
            <a:ext cx="2459482" cy="3781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12/23/2025</a:t>
            </a:fld>
            <a:endParaRPr lang="en-US"/>
          </a:p>
        </p:txBody>
      </p:sp>
      <p:sp>
        <p:nvSpPr>
          <p:cNvPr id="6" name="Holder 6"/>
          <p:cNvSpPr>
            <a:spLocks noGrp="1"/>
          </p:cNvSpPr>
          <p:nvPr>
            <p:ph type="sldNum" sz="quarter" idx="7"/>
          </p:nvPr>
        </p:nvSpPr>
        <p:spPr>
          <a:xfrm>
            <a:off x="9450786" y="7143391"/>
            <a:ext cx="192904" cy="152400"/>
          </a:xfrm>
          <a:prstGeom prst="rect">
            <a:avLst/>
          </a:prstGeom>
        </p:spPr>
        <p:txBody>
          <a:bodyPr wrap="square" lIns="0" tIns="0" rIns="0" bIns="0">
            <a:spAutoFit/>
          </a:bodyPr>
          <a:lstStyle>
            <a:lvl1pPr>
              <a:defRPr sz="1000" b="0" i="0">
                <a:solidFill>
                  <a:srgbClr val="898989"/>
                </a:solidFill>
                <a:latin typeface="Calibri"/>
                <a:cs typeface="Calibri"/>
              </a:defRPr>
            </a:lvl1pPr>
          </a:lstStyle>
          <a:p>
            <a:pPr marL="76835">
              <a:lnSpc>
                <a:spcPts val="1050"/>
              </a:lnSpc>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jpe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22300" y="7123436"/>
            <a:ext cx="633730" cy="166071"/>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898989"/>
                </a:solidFill>
                <a:latin typeface="Calibri"/>
                <a:cs typeface="Calibri"/>
              </a:rPr>
              <a:t>2</a:t>
            </a:r>
            <a:r>
              <a:rPr lang="en-US" sz="1000" spc="-10" dirty="0">
                <a:solidFill>
                  <a:srgbClr val="898989"/>
                </a:solidFill>
                <a:latin typeface="Calibri"/>
                <a:cs typeface="Calibri"/>
              </a:rPr>
              <a:t>4</a:t>
            </a:r>
            <a:r>
              <a:rPr sz="1000" spc="-10" dirty="0">
                <a:solidFill>
                  <a:srgbClr val="898989"/>
                </a:solidFill>
                <a:latin typeface="Calibri"/>
                <a:cs typeface="Calibri"/>
              </a:rPr>
              <a:t>/12/2025</a:t>
            </a:r>
            <a:endParaRPr sz="1000" dirty="0">
              <a:latin typeface="Calibri"/>
              <a:cs typeface="Calibri"/>
            </a:endParaRPr>
          </a:p>
        </p:txBody>
      </p:sp>
      <p:sp>
        <p:nvSpPr>
          <p:cNvPr id="3" name="object 3"/>
          <p:cNvSpPr txBox="1"/>
          <p:nvPr/>
        </p:nvSpPr>
        <p:spPr>
          <a:xfrm>
            <a:off x="4693987" y="7111707"/>
            <a:ext cx="1303020" cy="166071"/>
          </a:xfrm>
          <a:prstGeom prst="rect">
            <a:avLst/>
          </a:prstGeom>
        </p:spPr>
        <p:txBody>
          <a:bodyPr vert="horz" wrap="square" lIns="0" tIns="12065" rIns="0" bIns="0" rtlCol="0">
            <a:spAutoFit/>
          </a:bodyPr>
          <a:lstStyle/>
          <a:p>
            <a:pPr marL="12700">
              <a:lnSpc>
                <a:spcPct val="100000"/>
              </a:lnSpc>
              <a:spcBef>
                <a:spcPts val="95"/>
              </a:spcBef>
              <a:tabLst>
                <a:tab pos="588010" algn="l"/>
              </a:tabLst>
            </a:pPr>
            <a:r>
              <a:rPr sz="1000" dirty="0">
                <a:solidFill>
                  <a:srgbClr val="898989"/>
                </a:solidFill>
                <a:latin typeface="Calibri"/>
                <a:cs typeface="Calibri"/>
              </a:rPr>
              <a:t>IV</a:t>
            </a:r>
            <a:r>
              <a:rPr sz="1000" spc="15" dirty="0">
                <a:solidFill>
                  <a:srgbClr val="898989"/>
                </a:solidFill>
                <a:latin typeface="Calibri"/>
                <a:cs typeface="Calibri"/>
              </a:rPr>
              <a:t> </a:t>
            </a:r>
            <a:r>
              <a:rPr sz="1000" spc="-20" dirty="0">
                <a:solidFill>
                  <a:srgbClr val="898989"/>
                </a:solidFill>
                <a:latin typeface="Calibri"/>
                <a:cs typeface="Calibri"/>
              </a:rPr>
              <a:t>ECE-</a:t>
            </a:r>
            <a:r>
              <a:rPr lang="en-US" sz="1000" spc="-50" dirty="0">
                <a:solidFill>
                  <a:srgbClr val="898989"/>
                </a:solidFill>
                <a:latin typeface="Calibri"/>
                <a:cs typeface="Calibri"/>
              </a:rPr>
              <a:t>C</a:t>
            </a:r>
            <a:r>
              <a:rPr sz="1000" dirty="0">
                <a:solidFill>
                  <a:srgbClr val="898989"/>
                </a:solidFill>
                <a:latin typeface="Calibri"/>
                <a:cs typeface="Calibri"/>
              </a:rPr>
              <a:t>	BATCH</a:t>
            </a:r>
            <a:r>
              <a:rPr sz="1000" spc="-55" dirty="0">
                <a:solidFill>
                  <a:srgbClr val="898989"/>
                </a:solidFill>
                <a:latin typeface="Calibri"/>
                <a:cs typeface="Calibri"/>
              </a:rPr>
              <a:t> </a:t>
            </a:r>
            <a:r>
              <a:rPr sz="1000" spc="-20" dirty="0">
                <a:solidFill>
                  <a:srgbClr val="898989"/>
                </a:solidFill>
                <a:latin typeface="Calibri"/>
                <a:cs typeface="Calibri"/>
              </a:rPr>
              <a:t>NO.2</a:t>
            </a:r>
            <a:endParaRPr sz="1000" dirty="0">
              <a:latin typeface="Calibri"/>
              <a:cs typeface="Calibri"/>
            </a:endParaRPr>
          </a:p>
        </p:txBody>
      </p:sp>
      <p:sp>
        <p:nvSpPr>
          <p:cNvPr id="4" name="object 4"/>
          <p:cNvSpPr txBox="1"/>
          <p:nvPr/>
        </p:nvSpPr>
        <p:spPr>
          <a:xfrm>
            <a:off x="9514962" y="7111707"/>
            <a:ext cx="90170" cy="177800"/>
          </a:xfrm>
          <a:prstGeom prst="rect">
            <a:avLst/>
          </a:prstGeom>
        </p:spPr>
        <p:txBody>
          <a:bodyPr vert="horz" wrap="square" lIns="0" tIns="12065" rIns="0" bIns="0" rtlCol="0">
            <a:spAutoFit/>
          </a:bodyPr>
          <a:lstStyle/>
          <a:p>
            <a:pPr marL="12700">
              <a:lnSpc>
                <a:spcPct val="100000"/>
              </a:lnSpc>
              <a:spcBef>
                <a:spcPts val="95"/>
              </a:spcBef>
            </a:pPr>
            <a:r>
              <a:rPr sz="1000" spc="-50" dirty="0">
                <a:solidFill>
                  <a:srgbClr val="898989"/>
                </a:solidFill>
                <a:latin typeface="Calibri"/>
                <a:cs typeface="Calibri"/>
              </a:rPr>
              <a:t>1</a:t>
            </a:r>
            <a:endParaRPr sz="1000">
              <a:latin typeface="Calibri"/>
              <a:cs typeface="Calibri"/>
            </a:endParaRPr>
          </a:p>
        </p:txBody>
      </p:sp>
      <p:sp>
        <p:nvSpPr>
          <p:cNvPr id="5" name="object 5"/>
          <p:cNvSpPr txBox="1">
            <a:spLocks noGrp="1"/>
          </p:cNvSpPr>
          <p:nvPr>
            <p:ph type="title"/>
          </p:nvPr>
        </p:nvSpPr>
        <p:spPr>
          <a:xfrm>
            <a:off x="1471651" y="3725993"/>
            <a:ext cx="7744459" cy="630555"/>
          </a:xfrm>
          <a:prstGeom prst="rect">
            <a:avLst/>
          </a:prstGeom>
        </p:spPr>
        <p:txBody>
          <a:bodyPr vert="horz" wrap="square" lIns="0" tIns="15240" rIns="0" bIns="0" rtlCol="0">
            <a:spAutoFit/>
          </a:bodyPr>
          <a:lstStyle/>
          <a:p>
            <a:pPr marL="12700">
              <a:lnSpc>
                <a:spcPct val="100000"/>
              </a:lnSpc>
              <a:spcBef>
                <a:spcPts val="120"/>
              </a:spcBef>
            </a:pPr>
            <a:r>
              <a:rPr sz="3950" spc="-20" dirty="0"/>
              <a:t>PROJECT</a:t>
            </a:r>
            <a:r>
              <a:rPr sz="3950" spc="-190" dirty="0"/>
              <a:t> </a:t>
            </a:r>
            <a:r>
              <a:rPr sz="3950" spc="-185" dirty="0"/>
              <a:t>REVIEW</a:t>
            </a:r>
            <a:r>
              <a:rPr sz="3950" spc="-55" dirty="0"/>
              <a:t> </a:t>
            </a:r>
            <a:r>
              <a:rPr sz="3950" spc="-100" dirty="0"/>
              <a:t>PRESENTATION</a:t>
            </a:r>
            <a:endParaRPr sz="3950"/>
          </a:p>
        </p:txBody>
      </p:sp>
      <p:pic>
        <p:nvPicPr>
          <p:cNvPr id="6" name="object 6"/>
          <p:cNvPicPr/>
          <p:nvPr/>
        </p:nvPicPr>
        <p:blipFill>
          <a:blip r:embed="rId2" cstate="print"/>
          <a:stretch>
            <a:fillRect/>
          </a:stretch>
        </p:blipFill>
        <p:spPr>
          <a:xfrm>
            <a:off x="358335" y="79248"/>
            <a:ext cx="10027724" cy="15621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72212" y="4143173"/>
            <a:ext cx="2587625" cy="2256708"/>
          </a:xfrm>
          <a:prstGeom prst="rect">
            <a:avLst/>
          </a:prstGeom>
        </p:spPr>
        <p:txBody>
          <a:bodyPr vert="horz" wrap="square" lIns="0" tIns="90805" rIns="0" bIns="0" rtlCol="0">
            <a:spAutoFit/>
          </a:bodyPr>
          <a:lstStyle/>
          <a:p>
            <a:pPr marL="12700">
              <a:lnSpc>
                <a:spcPct val="100000"/>
              </a:lnSpc>
              <a:spcBef>
                <a:spcPts val="715"/>
              </a:spcBef>
            </a:pPr>
            <a:r>
              <a:rPr sz="1950" b="1" dirty="0">
                <a:latin typeface="Times New Roman"/>
                <a:cs typeface="Times New Roman"/>
              </a:rPr>
              <a:t>Presented</a:t>
            </a:r>
            <a:r>
              <a:rPr sz="1950" b="1" spc="25" dirty="0">
                <a:latin typeface="Times New Roman"/>
                <a:cs typeface="Times New Roman"/>
              </a:rPr>
              <a:t>  </a:t>
            </a:r>
            <a:r>
              <a:rPr sz="1950" b="1" spc="-25" dirty="0">
                <a:latin typeface="Times New Roman"/>
                <a:cs typeface="Times New Roman"/>
              </a:rPr>
              <a:t>by:</a:t>
            </a:r>
            <a:endParaRPr sz="1950" dirty="0">
              <a:latin typeface="Times New Roman"/>
              <a:cs typeface="Times New Roman"/>
            </a:endParaRPr>
          </a:p>
          <a:p>
            <a:pPr marL="12700">
              <a:lnSpc>
                <a:spcPct val="100000"/>
              </a:lnSpc>
              <a:spcBef>
                <a:spcPts val="625"/>
              </a:spcBef>
            </a:pPr>
            <a:r>
              <a:rPr sz="1950" dirty="0">
                <a:latin typeface="Times New Roman"/>
                <a:cs typeface="Times New Roman"/>
              </a:rPr>
              <a:t>ECE-</a:t>
            </a:r>
            <a:r>
              <a:rPr lang="en-US" sz="1950" dirty="0">
                <a:latin typeface="Times New Roman"/>
                <a:cs typeface="Times New Roman"/>
              </a:rPr>
              <a:t>C</a:t>
            </a:r>
            <a:r>
              <a:rPr sz="1950" dirty="0">
                <a:latin typeface="Times New Roman"/>
                <a:cs typeface="Times New Roman"/>
              </a:rPr>
              <a:t>,</a:t>
            </a:r>
            <a:r>
              <a:rPr sz="1950" spc="60" dirty="0">
                <a:latin typeface="Times New Roman"/>
                <a:cs typeface="Times New Roman"/>
              </a:rPr>
              <a:t> </a:t>
            </a:r>
            <a:r>
              <a:rPr sz="1950" dirty="0">
                <a:latin typeface="Times New Roman"/>
                <a:cs typeface="Times New Roman"/>
              </a:rPr>
              <a:t>Batch</a:t>
            </a:r>
            <a:r>
              <a:rPr sz="1950" spc="60" dirty="0">
                <a:latin typeface="Times New Roman"/>
                <a:cs typeface="Times New Roman"/>
              </a:rPr>
              <a:t> </a:t>
            </a:r>
            <a:r>
              <a:rPr sz="1950" dirty="0">
                <a:latin typeface="Times New Roman"/>
                <a:cs typeface="Times New Roman"/>
              </a:rPr>
              <a:t>No:</a:t>
            </a:r>
            <a:r>
              <a:rPr lang="en-US" sz="1950" spc="65" dirty="0">
                <a:latin typeface="Times New Roman"/>
                <a:cs typeface="Times New Roman"/>
              </a:rPr>
              <a:t> </a:t>
            </a:r>
            <a:r>
              <a:rPr sz="1950" spc="-25" dirty="0">
                <a:latin typeface="Times New Roman"/>
                <a:cs typeface="Times New Roman"/>
              </a:rPr>
              <a:t>2</a:t>
            </a:r>
            <a:endParaRPr sz="1950" dirty="0">
              <a:latin typeface="Times New Roman"/>
              <a:cs typeface="Times New Roman"/>
            </a:endParaRPr>
          </a:p>
          <a:p>
            <a:pPr marL="12700" marR="5080">
              <a:lnSpc>
                <a:spcPct val="126699"/>
              </a:lnSpc>
              <a:spcBef>
                <a:spcPts val="10"/>
              </a:spcBef>
            </a:pPr>
            <a:r>
              <a:rPr lang="en-US" sz="1950" spc="-10" dirty="0">
                <a:latin typeface="Times New Roman"/>
                <a:cs typeface="Times New Roman"/>
              </a:rPr>
              <a:t>K.LEELA SRAVANTHI</a:t>
            </a:r>
            <a:r>
              <a:rPr sz="1950" spc="500" dirty="0">
                <a:latin typeface="Times New Roman"/>
                <a:cs typeface="Times New Roman"/>
              </a:rPr>
              <a:t> </a:t>
            </a:r>
            <a:r>
              <a:rPr lang="en-US" sz="1950" spc="-10" dirty="0">
                <a:latin typeface="Times New Roman"/>
                <a:cs typeface="Times New Roman"/>
              </a:rPr>
              <a:t>K.TARUN KOTESH</a:t>
            </a:r>
            <a:r>
              <a:rPr sz="1950" spc="-10" dirty="0">
                <a:latin typeface="Times New Roman"/>
                <a:cs typeface="Times New Roman"/>
              </a:rPr>
              <a:t> </a:t>
            </a:r>
            <a:r>
              <a:rPr sz="1950" dirty="0">
                <a:latin typeface="Times New Roman"/>
                <a:cs typeface="Times New Roman"/>
              </a:rPr>
              <a:t>CH</a:t>
            </a:r>
            <a:r>
              <a:rPr lang="en-US" sz="1950" dirty="0">
                <a:latin typeface="Times New Roman"/>
                <a:cs typeface="Times New Roman"/>
              </a:rPr>
              <a:t>.MOUNIKA</a:t>
            </a:r>
          </a:p>
          <a:p>
            <a:pPr marL="12700" marR="5080">
              <a:lnSpc>
                <a:spcPct val="126699"/>
              </a:lnSpc>
              <a:spcBef>
                <a:spcPts val="10"/>
              </a:spcBef>
            </a:pPr>
            <a:r>
              <a:rPr lang="en-US" sz="1950" dirty="0">
                <a:latin typeface="Times New Roman"/>
                <a:cs typeface="Times New Roman"/>
              </a:rPr>
              <a:t>T.POOSEBABU</a:t>
            </a:r>
            <a:endParaRPr sz="1950" dirty="0">
              <a:latin typeface="Times New Roman"/>
              <a:cs typeface="Times New Roman"/>
            </a:endParaRPr>
          </a:p>
        </p:txBody>
      </p:sp>
      <p:sp>
        <p:nvSpPr>
          <p:cNvPr id="4" name="object 4"/>
          <p:cNvSpPr txBox="1"/>
          <p:nvPr/>
        </p:nvSpPr>
        <p:spPr>
          <a:xfrm>
            <a:off x="4334099" y="4897523"/>
            <a:ext cx="1400810" cy="1531620"/>
          </a:xfrm>
          <a:prstGeom prst="rect">
            <a:avLst/>
          </a:prstGeom>
        </p:spPr>
        <p:txBody>
          <a:bodyPr vert="horz" wrap="square" lIns="0" tIns="90805" rIns="0" bIns="0" rtlCol="0">
            <a:spAutoFit/>
          </a:bodyPr>
          <a:lstStyle/>
          <a:p>
            <a:pPr marL="22225">
              <a:lnSpc>
                <a:spcPct val="100000"/>
              </a:lnSpc>
              <a:spcBef>
                <a:spcPts val="625"/>
              </a:spcBef>
            </a:pPr>
            <a:r>
              <a:rPr lang="en-IN" sz="1950" spc="-10" dirty="0">
                <a:latin typeface="Times New Roman"/>
                <a:cs typeface="Times New Roman"/>
              </a:rPr>
              <a:t>22P31A04E5</a:t>
            </a:r>
            <a:endParaRPr lang="en-IN" sz="1950" dirty="0">
              <a:latin typeface="Times New Roman"/>
              <a:cs typeface="Times New Roman"/>
            </a:endParaRPr>
          </a:p>
          <a:p>
            <a:pPr marL="22225">
              <a:lnSpc>
                <a:spcPct val="100000"/>
              </a:lnSpc>
              <a:spcBef>
                <a:spcPts val="625"/>
              </a:spcBef>
            </a:pPr>
            <a:r>
              <a:rPr sz="1950" spc="-10" dirty="0">
                <a:latin typeface="Times New Roman"/>
                <a:cs typeface="Times New Roman"/>
              </a:rPr>
              <a:t>22P31A04</a:t>
            </a:r>
            <a:r>
              <a:rPr lang="en-US" sz="1950" spc="-10" dirty="0">
                <a:latin typeface="Times New Roman"/>
                <a:cs typeface="Times New Roman"/>
              </a:rPr>
              <a:t>E8</a:t>
            </a:r>
            <a:endParaRPr sz="1950" dirty="0">
              <a:latin typeface="Times New Roman"/>
              <a:cs typeface="Times New Roman"/>
            </a:endParaRPr>
          </a:p>
          <a:p>
            <a:pPr marL="22225">
              <a:lnSpc>
                <a:spcPct val="100000"/>
              </a:lnSpc>
              <a:spcBef>
                <a:spcPts val="625"/>
              </a:spcBef>
            </a:pPr>
            <a:r>
              <a:rPr sz="1950" spc="-10" dirty="0">
                <a:latin typeface="Times New Roman"/>
                <a:cs typeface="Times New Roman"/>
              </a:rPr>
              <a:t>22P31A04</a:t>
            </a:r>
            <a:r>
              <a:rPr lang="en-US" sz="1950" spc="-10" dirty="0">
                <a:latin typeface="Times New Roman"/>
                <a:cs typeface="Times New Roman"/>
              </a:rPr>
              <a:t>D4</a:t>
            </a:r>
            <a:endParaRPr sz="1950" dirty="0">
              <a:latin typeface="Times New Roman"/>
              <a:cs typeface="Times New Roman"/>
            </a:endParaRPr>
          </a:p>
          <a:p>
            <a:pPr marL="22225">
              <a:lnSpc>
                <a:spcPct val="100000"/>
              </a:lnSpc>
              <a:spcBef>
                <a:spcPts val="625"/>
              </a:spcBef>
            </a:pPr>
            <a:r>
              <a:rPr lang="en-IN" sz="1950" spc="-10" dirty="0">
                <a:latin typeface="Times New Roman"/>
                <a:cs typeface="Times New Roman"/>
              </a:rPr>
              <a:t>22P31A04I6</a:t>
            </a:r>
            <a:endParaRPr lang="en-IN" sz="1950" dirty="0">
              <a:latin typeface="Times New Roman"/>
              <a:cs typeface="Times New Roman"/>
            </a:endParaRPr>
          </a:p>
        </p:txBody>
      </p:sp>
      <p:sp>
        <p:nvSpPr>
          <p:cNvPr id="5" name="object 5"/>
          <p:cNvSpPr txBox="1"/>
          <p:nvPr/>
        </p:nvSpPr>
        <p:spPr>
          <a:xfrm>
            <a:off x="6489700" y="4222066"/>
            <a:ext cx="3217545" cy="2325830"/>
          </a:xfrm>
          <a:prstGeom prst="rect">
            <a:avLst/>
          </a:prstGeom>
        </p:spPr>
        <p:txBody>
          <a:bodyPr vert="horz" wrap="square" lIns="0" tIns="9525" rIns="0" bIns="0" rtlCol="0">
            <a:spAutoFit/>
          </a:bodyPr>
          <a:lstStyle/>
          <a:p>
            <a:pPr marL="27305" marR="607695" indent="62230" algn="just">
              <a:lnSpc>
                <a:spcPct val="147900"/>
              </a:lnSpc>
              <a:spcBef>
                <a:spcPts val="75"/>
              </a:spcBef>
            </a:pPr>
            <a:r>
              <a:rPr sz="1950" b="1" spc="5" dirty="0">
                <a:latin typeface="Times New Roman"/>
                <a:cs typeface="Times New Roman"/>
              </a:rPr>
              <a:t>Under</a:t>
            </a:r>
            <a:r>
              <a:rPr sz="1950" b="1" spc="-25" dirty="0">
                <a:latin typeface="Times New Roman"/>
                <a:cs typeface="Times New Roman"/>
              </a:rPr>
              <a:t> </a:t>
            </a:r>
            <a:r>
              <a:rPr sz="1950" b="1" spc="5" dirty="0">
                <a:latin typeface="Times New Roman"/>
                <a:cs typeface="Times New Roman"/>
              </a:rPr>
              <a:t>the</a:t>
            </a:r>
            <a:r>
              <a:rPr sz="1950" b="1" spc="15" dirty="0">
                <a:latin typeface="Times New Roman"/>
                <a:cs typeface="Times New Roman"/>
              </a:rPr>
              <a:t> </a:t>
            </a:r>
            <a:r>
              <a:rPr sz="1950" b="1" spc="5" dirty="0">
                <a:latin typeface="Times New Roman"/>
                <a:cs typeface="Times New Roman"/>
              </a:rPr>
              <a:t>Guidance</a:t>
            </a:r>
            <a:r>
              <a:rPr sz="1950" b="1" spc="15" dirty="0">
                <a:latin typeface="Times New Roman"/>
                <a:cs typeface="Times New Roman"/>
              </a:rPr>
              <a:t> </a:t>
            </a:r>
            <a:r>
              <a:rPr sz="1950" b="1" spc="5" dirty="0">
                <a:latin typeface="Times New Roman"/>
                <a:cs typeface="Times New Roman"/>
              </a:rPr>
              <a:t>of</a:t>
            </a:r>
            <a:r>
              <a:rPr sz="1950" b="1" dirty="0">
                <a:latin typeface="Times New Roman"/>
                <a:cs typeface="Times New Roman"/>
              </a:rPr>
              <a:t> </a:t>
            </a:r>
            <a:r>
              <a:rPr lang="en-US" sz="1950" b="1" dirty="0">
                <a:latin typeface="Times New Roman"/>
                <a:cs typeface="Times New Roman"/>
              </a:rPr>
              <a:t>         </a:t>
            </a:r>
            <a:r>
              <a:rPr lang="en-IN" sz="1950" spc="5" dirty="0">
                <a:latin typeface="Times New Roman"/>
                <a:cs typeface="Times New Roman"/>
              </a:rPr>
              <a:t>Dr. G. Sri Lakshmi,</a:t>
            </a:r>
          </a:p>
          <a:p>
            <a:pPr marL="27305" marR="607695" indent="62230" algn="just">
              <a:lnSpc>
                <a:spcPct val="147900"/>
              </a:lnSpc>
              <a:spcBef>
                <a:spcPts val="75"/>
              </a:spcBef>
            </a:pPr>
            <a:r>
              <a:rPr lang="en-IN" sz="1950" spc="5" dirty="0">
                <a:latin typeface="Times New Roman"/>
                <a:cs typeface="Times New Roman"/>
              </a:rPr>
              <a:t>M.E,(</a:t>
            </a:r>
            <a:r>
              <a:rPr lang="en-IN" sz="1950" spc="5" dirty="0" err="1">
                <a:latin typeface="Times New Roman"/>
                <a:cs typeface="Times New Roman"/>
              </a:rPr>
              <a:t>Ph.D</a:t>
            </a:r>
            <a:r>
              <a:rPr lang="en-IN" sz="1950" spc="5" dirty="0">
                <a:latin typeface="Times New Roman"/>
                <a:cs typeface="Times New Roman"/>
              </a:rPr>
              <a:t>)</a:t>
            </a:r>
            <a:endParaRPr sz="1950" dirty="0">
              <a:latin typeface="Times New Roman"/>
              <a:cs typeface="Times New Roman"/>
            </a:endParaRPr>
          </a:p>
          <a:p>
            <a:pPr marL="27305" marR="5080" indent="-15240">
              <a:lnSpc>
                <a:spcPct val="145000"/>
              </a:lnSpc>
              <a:spcBef>
                <a:spcPts val="100"/>
              </a:spcBef>
            </a:pPr>
            <a:r>
              <a:rPr sz="1950" dirty="0">
                <a:latin typeface="Times New Roman"/>
                <a:cs typeface="Times New Roman"/>
              </a:rPr>
              <a:t>Ass</a:t>
            </a:r>
            <a:r>
              <a:rPr lang="en-US" sz="1950" dirty="0">
                <a:latin typeface="Times New Roman"/>
                <a:cs typeface="Times New Roman"/>
              </a:rPr>
              <a:t>ociate</a:t>
            </a:r>
            <a:r>
              <a:rPr sz="1950" spc="100" dirty="0">
                <a:latin typeface="Times New Roman"/>
                <a:cs typeface="Times New Roman"/>
              </a:rPr>
              <a:t> </a:t>
            </a:r>
            <a:r>
              <a:rPr sz="1950" spc="-10" dirty="0">
                <a:latin typeface="Times New Roman"/>
                <a:cs typeface="Times New Roman"/>
              </a:rPr>
              <a:t>Professor</a:t>
            </a:r>
            <a:r>
              <a:rPr sz="1950" spc="500" dirty="0">
                <a:latin typeface="Times New Roman"/>
                <a:cs typeface="Times New Roman"/>
              </a:rPr>
              <a:t>  </a:t>
            </a:r>
            <a:r>
              <a:rPr lang="en-US" sz="1950" spc="500" dirty="0">
                <a:latin typeface="Times New Roman"/>
                <a:cs typeface="Times New Roman"/>
              </a:rPr>
              <a:t>   </a:t>
            </a:r>
            <a:r>
              <a:rPr sz="1950" dirty="0">
                <a:latin typeface="Times New Roman"/>
                <a:cs typeface="Times New Roman"/>
              </a:rPr>
              <a:t>Department</a:t>
            </a:r>
            <a:r>
              <a:rPr sz="1950" spc="65" dirty="0">
                <a:latin typeface="Times New Roman"/>
                <a:cs typeface="Times New Roman"/>
              </a:rPr>
              <a:t> </a:t>
            </a:r>
            <a:r>
              <a:rPr sz="1950" dirty="0">
                <a:latin typeface="Times New Roman"/>
                <a:cs typeface="Times New Roman"/>
              </a:rPr>
              <a:t>of</a:t>
            </a:r>
            <a:r>
              <a:rPr sz="1950" spc="60" dirty="0">
                <a:latin typeface="Times New Roman"/>
                <a:cs typeface="Times New Roman"/>
              </a:rPr>
              <a:t> </a:t>
            </a:r>
            <a:r>
              <a:rPr sz="1950" dirty="0">
                <a:latin typeface="Times New Roman"/>
                <a:cs typeface="Times New Roman"/>
              </a:rPr>
              <a:t>ECE</a:t>
            </a:r>
            <a:r>
              <a:rPr sz="2650" dirty="0">
                <a:latin typeface="Times New Roman"/>
                <a:cs typeface="Times New Roman"/>
              </a:rPr>
              <a:t>,</a:t>
            </a:r>
            <a:r>
              <a:rPr sz="2650" spc="60" dirty="0">
                <a:latin typeface="Times New Roman"/>
                <a:cs typeface="Times New Roman"/>
              </a:rPr>
              <a:t> </a:t>
            </a:r>
            <a:r>
              <a:rPr sz="1950" spc="-10" dirty="0">
                <a:latin typeface="Times New Roman"/>
                <a:cs typeface="Times New Roman"/>
              </a:rPr>
              <a:t>ACET(A)</a:t>
            </a:r>
            <a:endParaRPr sz="1950" dirty="0">
              <a:latin typeface="Times New Roman"/>
              <a:cs typeface="Times New Roman"/>
            </a:endParaRPr>
          </a:p>
        </p:txBody>
      </p:sp>
      <p:pic>
        <p:nvPicPr>
          <p:cNvPr id="6" name="object 6"/>
          <p:cNvPicPr/>
          <p:nvPr/>
        </p:nvPicPr>
        <p:blipFill>
          <a:blip r:embed="rId2" cstate="print"/>
          <a:stretch>
            <a:fillRect/>
          </a:stretch>
        </p:blipFill>
        <p:spPr>
          <a:xfrm>
            <a:off x="358335" y="156972"/>
            <a:ext cx="10027724" cy="1496567"/>
          </a:xfrm>
          <a:prstGeom prst="rect">
            <a:avLst/>
          </a:prstGeom>
        </p:spPr>
      </p:pic>
      <p:sp>
        <p:nvSpPr>
          <p:cNvPr id="7" name="object 7"/>
          <p:cNvSpPr txBox="1">
            <a:spLocks noGrp="1"/>
          </p:cNvSpPr>
          <p:nvPr>
            <p:ph type="ftr" sz="quarter" idx="5"/>
          </p:nvPr>
        </p:nvSpPr>
        <p:spPr>
          <a:xfrm>
            <a:off x="4693350" y="7143391"/>
            <a:ext cx="1303656" cy="141064"/>
          </a:xfrm>
          <a:prstGeom prst="rect">
            <a:avLst/>
          </a:prstGeom>
        </p:spPr>
        <p:txBody>
          <a:bodyPr vert="horz" wrap="square" lIns="0" tIns="0" rIns="0" bIns="0" rtlCol="0">
            <a:spAutoFit/>
          </a:bodyPr>
          <a:lstStyle/>
          <a:p>
            <a:pPr marL="26034">
              <a:lnSpc>
                <a:spcPts val="1050"/>
              </a:lnSpc>
            </a:pPr>
            <a:r>
              <a:rPr dirty="0"/>
              <a:t>IV </a:t>
            </a:r>
            <a:r>
              <a:rPr spc="-20" dirty="0"/>
              <a:t>ECE-</a:t>
            </a:r>
            <a:r>
              <a:rPr lang="en-US" spc="-20" dirty="0"/>
              <a:t>C</a:t>
            </a:r>
            <a:r>
              <a:rPr spc="215" dirty="0"/>
              <a:t>  </a:t>
            </a:r>
            <a:r>
              <a:rPr dirty="0"/>
              <a:t>BATCH</a:t>
            </a:r>
            <a:r>
              <a:rPr spc="-5" dirty="0"/>
              <a:t> </a:t>
            </a:r>
            <a:r>
              <a:rPr spc="-20" dirty="0"/>
              <a:t>NO.2</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76835">
              <a:lnSpc>
                <a:spcPts val="1050"/>
              </a:lnSpc>
            </a:pPr>
            <a:fld id="{81D60167-4931-47E6-BA6A-407CBD079E47}" type="slidenum">
              <a:rPr spc="-50" dirty="0"/>
              <a:t>2</a:t>
            </a:fld>
            <a:endParaRPr spc="-50" dirty="0"/>
          </a:p>
        </p:txBody>
      </p:sp>
      <p:sp>
        <p:nvSpPr>
          <p:cNvPr id="12" name="Title 11">
            <a:extLst>
              <a:ext uri="{FF2B5EF4-FFF2-40B4-BE49-F238E27FC236}">
                <a16:creationId xmlns:a16="http://schemas.microsoft.com/office/drawing/2014/main" id="{BC024B62-A593-A734-0606-315B407E2804}"/>
              </a:ext>
            </a:extLst>
          </p:cNvPr>
          <p:cNvSpPr>
            <a:spLocks noGrp="1"/>
          </p:cNvSpPr>
          <p:nvPr>
            <p:ph type="title"/>
          </p:nvPr>
        </p:nvSpPr>
        <p:spPr>
          <a:xfrm>
            <a:off x="788498" y="2249805"/>
            <a:ext cx="9597561" cy="1376767"/>
          </a:xfrm>
        </p:spPr>
        <p:txBody>
          <a:bodyPr/>
          <a:lstStyle/>
          <a:p>
            <a:r>
              <a:rPr lang="en-US" sz="2200" b="1" spc="-10" dirty="0">
                <a:solidFill>
                  <a:srgbClr val="001F60"/>
                </a:solidFill>
                <a:latin typeface="Times New Roman" panose="02020603050405020304" pitchFamily="18" charset="0"/>
                <a:cs typeface="Times New Roman" panose="02020603050405020304" pitchFamily="18" charset="0"/>
              </a:rPr>
              <a:t>PRIVACY-PRESERVING AND EXPLAINABLE AI FOR INTELLIGENT CAMPUS PLACEMENT USING FEDERATED LEARNING AND GRAPH </a:t>
            </a:r>
            <a:br>
              <a:rPr lang="en-US" sz="2200" b="1" spc="-10" dirty="0">
                <a:solidFill>
                  <a:srgbClr val="001F60"/>
                </a:solidFill>
                <a:latin typeface="Times New Roman" panose="02020603050405020304" pitchFamily="18" charset="0"/>
                <a:cs typeface="Times New Roman" panose="02020603050405020304" pitchFamily="18" charset="0"/>
              </a:rPr>
            </a:br>
            <a:r>
              <a:rPr lang="en-US" sz="2200" b="1" spc="-10" dirty="0">
                <a:solidFill>
                  <a:srgbClr val="001F60"/>
                </a:solidFill>
                <a:latin typeface="Times New Roman" panose="02020603050405020304" pitchFamily="18" charset="0"/>
                <a:cs typeface="Times New Roman" panose="02020603050405020304" pitchFamily="18" charset="0"/>
              </a:rPr>
              <a:t>                                            NEURAL NETWORKS</a:t>
            </a:r>
            <a:br>
              <a:rPr lang="en-US" sz="2200" b="1" spc="-10" dirty="0">
                <a:solidFill>
                  <a:srgbClr val="001F60"/>
                </a:solidFill>
                <a:latin typeface="Times New Roman" panose="02020603050405020304" pitchFamily="18" charset="0"/>
                <a:cs typeface="Times New Roman" panose="02020603050405020304" pitchFamily="18" charset="0"/>
              </a:rPr>
            </a:br>
            <a:br>
              <a:rPr lang="en-US" sz="2200" b="1" spc="-10" dirty="0">
                <a:solidFill>
                  <a:srgbClr val="001F60"/>
                </a:solidFill>
                <a:latin typeface="Times New Roman" panose="02020603050405020304" pitchFamily="18" charset="0"/>
                <a:cs typeface="Times New Roman" panose="02020603050405020304" pitchFamily="18" charset="0"/>
              </a:rPr>
            </a:br>
            <a:br>
              <a:rPr lang="en-US" sz="2200" b="1" spc="-10" dirty="0">
                <a:solidFill>
                  <a:srgbClr val="001F60"/>
                </a:solidFill>
              </a:rPr>
            </a:br>
            <a:br>
              <a:rPr lang="en-IN" sz="2200" dirty="0"/>
            </a:br>
            <a:endParaRPr lang="en-IN"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xfrm>
            <a:off x="4170691" y="445962"/>
            <a:ext cx="1786255" cy="512445"/>
          </a:xfrm>
          <a:prstGeom prst="rect">
            <a:avLst/>
          </a:prstGeom>
        </p:spPr>
        <p:txBody>
          <a:bodyPr vert="horz" wrap="square" lIns="0" tIns="11430" rIns="0" bIns="0" rtlCol="0">
            <a:spAutoFit/>
          </a:bodyPr>
          <a:lstStyle/>
          <a:p>
            <a:pPr marL="12700">
              <a:lnSpc>
                <a:spcPct val="100000"/>
              </a:lnSpc>
              <a:spcBef>
                <a:spcPts val="90"/>
              </a:spcBef>
            </a:pPr>
            <a:r>
              <a:rPr sz="3200" b="1" spc="-10" dirty="0">
                <a:latin typeface="Times New Roman"/>
                <a:cs typeface="Times New Roman"/>
              </a:rPr>
              <a:t>AGENDA</a:t>
            </a:r>
            <a:endParaRPr sz="3200">
              <a:latin typeface="Times New Roman"/>
              <a:cs typeface="Times New Roman"/>
            </a:endParaRPr>
          </a:p>
        </p:txBody>
      </p:sp>
      <p:sp>
        <p:nvSpPr>
          <p:cNvPr id="6" name="object 6"/>
          <p:cNvSpPr txBox="1">
            <a:spLocks noGrp="1"/>
          </p:cNvSpPr>
          <p:nvPr>
            <p:ph type="ftr" sz="quarter" idx="5"/>
          </p:nvPr>
        </p:nvSpPr>
        <p:spPr>
          <a:xfrm>
            <a:off x="4693350" y="7143391"/>
            <a:ext cx="1303656" cy="141064"/>
          </a:xfrm>
          <a:prstGeom prst="rect">
            <a:avLst/>
          </a:prstGeom>
        </p:spPr>
        <p:txBody>
          <a:bodyPr vert="horz" wrap="square" lIns="0" tIns="0" rIns="0" bIns="0" rtlCol="0">
            <a:spAutoFit/>
          </a:bodyPr>
          <a:lstStyle/>
          <a:p>
            <a:pPr marL="26034">
              <a:lnSpc>
                <a:spcPts val="1050"/>
              </a:lnSpc>
            </a:pPr>
            <a:r>
              <a:rPr dirty="0"/>
              <a:t>IV </a:t>
            </a:r>
            <a:r>
              <a:rPr spc="-20" dirty="0"/>
              <a:t>ECE-</a:t>
            </a:r>
            <a:r>
              <a:rPr lang="en-US" spc="-20" dirty="0"/>
              <a:t>C</a:t>
            </a:r>
            <a:r>
              <a:rPr spc="215" dirty="0"/>
              <a:t>  </a:t>
            </a:r>
            <a:r>
              <a:rPr dirty="0"/>
              <a:t>BATCH</a:t>
            </a:r>
            <a:r>
              <a:rPr spc="-5" dirty="0"/>
              <a:t> </a:t>
            </a:r>
            <a:r>
              <a:rPr spc="-20" dirty="0"/>
              <a:t>NO.2</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76835">
              <a:lnSpc>
                <a:spcPts val="1050"/>
              </a:lnSpc>
            </a:pPr>
            <a:fld id="{81D60167-4931-47E6-BA6A-407CBD079E47}" type="slidenum">
              <a:rPr spc="-50" dirty="0"/>
              <a:t>3</a:t>
            </a:fld>
            <a:endParaRPr spc="-50" dirty="0"/>
          </a:p>
        </p:txBody>
      </p:sp>
      <p:sp>
        <p:nvSpPr>
          <p:cNvPr id="5" name="object 5"/>
          <p:cNvSpPr txBox="1"/>
          <p:nvPr/>
        </p:nvSpPr>
        <p:spPr>
          <a:xfrm>
            <a:off x="1084580" y="1310174"/>
            <a:ext cx="6243319" cy="5441233"/>
          </a:xfrm>
          <a:prstGeom prst="rect">
            <a:avLst/>
          </a:prstGeom>
        </p:spPr>
        <p:txBody>
          <a:bodyPr vert="horz" wrap="square" lIns="0" tIns="16510" rIns="0" bIns="0" rtlCol="0">
            <a:spAutoFit/>
          </a:bodyPr>
          <a:lstStyle/>
          <a:p>
            <a:pPr marL="200660" indent="-187960">
              <a:lnSpc>
                <a:spcPct val="100000"/>
              </a:lnSpc>
              <a:spcBef>
                <a:spcPts val="130"/>
              </a:spcBef>
              <a:buFont typeface="Arial MT"/>
              <a:buChar char="•"/>
              <a:tabLst>
                <a:tab pos="200660" algn="l"/>
              </a:tabLst>
            </a:pPr>
            <a:r>
              <a:rPr sz="1950" spc="-10" dirty="0">
                <a:latin typeface="Times New Roman"/>
                <a:cs typeface="Times New Roman"/>
              </a:rPr>
              <a:t>ABSTRACT</a:t>
            </a:r>
            <a:endParaRPr sz="1950" dirty="0">
              <a:latin typeface="Times New Roman"/>
              <a:cs typeface="Times New Roman"/>
            </a:endParaRPr>
          </a:p>
          <a:p>
            <a:pPr marL="200660" indent="-187960">
              <a:lnSpc>
                <a:spcPct val="100000"/>
              </a:lnSpc>
              <a:spcBef>
                <a:spcPts val="2050"/>
              </a:spcBef>
              <a:buFont typeface="Arial MT"/>
              <a:buChar char="•"/>
              <a:tabLst>
                <a:tab pos="200660" algn="l"/>
              </a:tabLst>
            </a:pPr>
            <a:r>
              <a:rPr sz="1950" spc="-10" dirty="0">
                <a:latin typeface="Times New Roman"/>
                <a:cs typeface="Times New Roman"/>
              </a:rPr>
              <a:t>INTRODUCTION</a:t>
            </a:r>
            <a:endParaRPr sz="1950" dirty="0">
              <a:latin typeface="Times New Roman"/>
              <a:cs typeface="Times New Roman"/>
            </a:endParaRPr>
          </a:p>
          <a:p>
            <a:pPr marL="200660" indent="-187960">
              <a:lnSpc>
                <a:spcPct val="100000"/>
              </a:lnSpc>
              <a:spcBef>
                <a:spcPts val="2065"/>
              </a:spcBef>
              <a:buFont typeface="Arial MT"/>
              <a:buChar char="•"/>
              <a:tabLst>
                <a:tab pos="200660" algn="l"/>
              </a:tabLst>
            </a:pPr>
            <a:r>
              <a:rPr sz="1950" dirty="0">
                <a:latin typeface="Times New Roman"/>
                <a:cs typeface="Times New Roman"/>
              </a:rPr>
              <a:t>PROBLEM</a:t>
            </a:r>
            <a:r>
              <a:rPr sz="1950" spc="95" dirty="0">
                <a:latin typeface="Times New Roman"/>
                <a:cs typeface="Times New Roman"/>
              </a:rPr>
              <a:t> </a:t>
            </a:r>
            <a:r>
              <a:rPr sz="1950" spc="-10" dirty="0">
                <a:latin typeface="Times New Roman"/>
                <a:cs typeface="Times New Roman"/>
              </a:rPr>
              <a:t>DEFINITION</a:t>
            </a:r>
            <a:endParaRPr sz="1950" dirty="0">
              <a:latin typeface="Times New Roman"/>
              <a:cs typeface="Times New Roman"/>
            </a:endParaRPr>
          </a:p>
          <a:p>
            <a:pPr marL="200660" indent="-187960">
              <a:lnSpc>
                <a:spcPct val="100000"/>
              </a:lnSpc>
              <a:spcBef>
                <a:spcPts val="2065"/>
              </a:spcBef>
              <a:buFont typeface="Arial MT"/>
              <a:buChar char="•"/>
              <a:tabLst>
                <a:tab pos="200660" algn="l"/>
              </a:tabLst>
            </a:pPr>
            <a:r>
              <a:rPr lang="en-US" sz="1950" dirty="0">
                <a:latin typeface="Times New Roman"/>
                <a:cs typeface="Times New Roman"/>
              </a:rPr>
              <a:t>MOTIVATION BEHIND THE PROBLEM SELECTION</a:t>
            </a:r>
          </a:p>
          <a:p>
            <a:pPr marL="200660" indent="-187960">
              <a:lnSpc>
                <a:spcPct val="100000"/>
              </a:lnSpc>
              <a:spcBef>
                <a:spcPts val="2065"/>
              </a:spcBef>
              <a:buFont typeface="Arial MT"/>
              <a:buChar char="•"/>
              <a:tabLst>
                <a:tab pos="200660" algn="l"/>
              </a:tabLst>
            </a:pPr>
            <a:r>
              <a:rPr sz="1950" dirty="0">
                <a:latin typeface="Times New Roman"/>
                <a:cs typeface="Times New Roman"/>
              </a:rPr>
              <a:t>EXISTING</a:t>
            </a:r>
            <a:r>
              <a:rPr sz="1950" spc="95" dirty="0">
                <a:latin typeface="Times New Roman"/>
                <a:cs typeface="Times New Roman"/>
              </a:rPr>
              <a:t> </a:t>
            </a:r>
            <a:r>
              <a:rPr sz="1950" spc="-10" dirty="0">
                <a:latin typeface="Times New Roman"/>
                <a:cs typeface="Times New Roman"/>
              </a:rPr>
              <a:t>METHODOLOGY</a:t>
            </a:r>
            <a:endParaRPr sz="1950" dirty="0">
              <a:latin typeface="Times New Roman"/>
              <a:cs typeface="Times New Roman"/>
            </a:endParaRPr>
          </a:p>
          <a:p>
            <a:pPr marL="200660" indent="-187960">
              <a:lnSpc>
                <a:spcPct val="100000"/>
              </a:lnSpc>
              <a:spcBef>
                <a:spcPts val="2065"/>
              </a:spcBef>
              <a:buFont typeface="Arial MT"/>
              <a:buChar char="•"/>
              <a:tabLst>
                <a:tab pos="200660" algn="l"/>
              </a:tabLst>
            </a:pPr>
            <a:r>
              <a:rPr sz="1950" dirty="0">
                <a:latin typeface="Times New Roman"/>
                <a:cs typeface="Times New Roman"/>
              </a:rPr>
              <a:t>PROPOSED</a:t>
            </a:r>
            <a:r>
              <a:rPr sz="1950" spc="120" dirty="0">
                <a:latin typeface="Times New Roman"/>
                <a:cs typeface="Times New Roman"/>
              </a:rPr>
              <a:t> </a:t>
            </a:r>
            <a:r>
              <a:rPr sz="1950" spc="-10" dirty="0">
                <a:latin typeface="Times New Roman"/>
                <a:cs typeface="Times New Roman"/>
              </a:rPr>
              <a:t>METHODOLOGY</a:t>
            </a:r>
            <a:endParaRPr sz="1950" dirty="0">
              <a:latin typeface="Times New Roman"/>
              <a:cs typeface="Times New Roman"/>
            </a:endParaRPr>
          </a:p>
          <a:p>
            <a:pPr marL="200660" indent="-187960">
              <a:lnSpc>
                <a:spcPct val="100000"/>
              </a:lnSpc>
              <a:spcBef>
                <a:spcPts val="2065"/>
              </a:spcBef>
              <a:buFont typeface="Arial MT"/>
              <a:buChar char="•"/>
              <a:tabLst>
                <a:tab pos="200660" algn="l"/>
              </a:tabLst>
            </a:pPr>
            <a:r>
              <a:rPr sz="1950" dirty="0">
                <a:latin typeface="Times New Roman"/>
                <a:cs typeface="Times New Roman"/>
              </a:rPr>
              <a:t>BLOCK</a:t>
            </a:r>
            <a:r>
              <a:rPr sz="1950" spc="85" dirty="0">
                <a:latin typeface="Times New Roman"/>
                <a:cs typeface="Times New Roman"/>
              </a:rPr>
              <a:t> </a:t>
            </a:r>
            <a:r>
              <a:rPr sz="1950" spc="-10" dirty="0">
                <a:latin typeface="Times New Roman"/>
                <a:cs typeface="Times New Roman"/>
              </a:rPr>
              <a:t>DIAGRAM</a:t>
            </a:r>
            <a:endParaRPr sz="1950" dirty="0">
              <a:latin typeface="Times New Roman"/>
              <a:cs typeface="Times New Roman"/>
            </a:endParaRPr>
          </a:p>
          <a:p>
            <a:pPr marL="200660" indent="-187960">
              <a:lnSpc>
                <a:spcPct val="100000"/>
              </a:lnSpc>
              <a:spcBef>
                <a:spcPts val="2050"/>
              </a:spcBef>
              <a:buFont typeface="Arial MT"/>
              <a:buChar char="•"/>
              <a:tabLst>
                <a:tab pos="200660" algn="l"/>
              </a:tabLst>
            </a:pPr>
            <a:r>
              <a:rPr lang="en-US" sz="1950" spc="-35" dirty="0">
                <a:latin typeface="Times New Roman"/>
                <a:cs typeface="Times New Roman"/>
              </a:rPr>
              <a:t>FEASIBILITY ANALYSIS</a:t>
            </a:r>
            <a:endParaRPr sz="1950" dirty="0">
              <a:latin typeface="Times New Roman"/>
              <a:cs typeface="Times New Roman"/>
            </a:endParaRPr>
          </a:p>
          <a:p>
            <a:pPr marL="200660" indent="-187960">
              <a:lnSpc>
                <a:spcPct val="100000"/>
              </a:lnSpc>
              <a:spcBef>
                <a:spcPts val="2065"/>
              </a:spcBef>
              <a:buFont typeface="Arial MT"/>
              <a:buChar char="•"/>
              <a:tabLst>
                <a:tab pos="200660" algn="l"/>
              </a:tabLst>
            </a:pPr>
            <a:r>
              <a:rPr sz="1950" spc="-25" dirty="0">
                <a:latin typeface="Times New Roman"/>
                <a:cs typeface="Times New Roman"/>
              </a:rPr>
              <a:t>MATHEMATICAL</a:t>
            </a:r>
            <a:r>
              <a:rPr sz="1950" spc="-40" dirty="0">
                <a:latin typeface="Times New Roman"/>
                <a:cs typeface="Times New Roman"/>
              </a:rPr>
              <a:t> </a:t>
            </a:r>
            <a:r>
              <a:rPr sz="1950" spc="-10" dirty="0">
                <a:latin typeface="Times New Roman"/>
                <a:cs typeface="Times New Roman"/>
              </a:rPr>
              <a:t>FORMULATION</a:t>
            </a:r>
            <a:endParaRPr sz="1950" dirty="0">
              <a:latin typeface="Times New Roman"/>
              <a:cs typeface="Times New Roman"/>
            </a:endParaRPr>
          </a:p>
          <a:p>
            <a:pPr marL="200660" indent="-187960">
              <a:lnSpc>
                <a:spcPct val="100000"/>
              </a:lnSpc>
              <a:spcBef>
                <a:spcPts val="2065"/>
              </a:spcBef>
              <a:buFont typeface="Arial MT"/>
              <a:buChar char="•"/>
              <a:tabLst>
                <a:tab pos="200660" algn="l"/>
              </a:tabLst>
            </a:pPr>
            <a:r>
              <a:rPr sz="1950" spc="-10" dirty="0">
                <a:latin typeface="Times New Roman"/>
                <a:cs typeface="Times New Roman"/>
              </a:rPr>
              <a:t>REFERENCES</a:t>
            </a:r>
            <a:endParaRPr sz="195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xfrm>
            <a:off x="1563150" y="518320"/>
            <a:ext cx="7564056" cy="730071"/>
          </a:xfrm>
          <a:prstGeom prst="rect">
            <a:avLst/>
          </a:prstGeom>
        </p:spPr>
        <p:txBody>
          <a:bodyPr vert="horz" wrap="square" lIns="0" tIns="189610" rIns="0" bIns="0" rtlCol="0">
            <a:spAutoFit/>
          </a:bodyPr>
          <a:lstStyle/>
          <a:p>
            <a:pPr marL="2609215">
              <a:lnSpc>
                <a:spcPct val="100000"/>
              </a:lnSpc>
              <a:spcBef>
                <a:spcPts val="125"/>
              </a:spcBef>
            </a:pPr>
            <a:r>
              <a:rPr sz="3500" b="1" spc="-10" dirty="0"/>
              <a:t>ABSTRACT</a:t>
            </a:r>
            <a:endParaRPr sz="3500" b="1" dirty="0"/>
          </a:p>
        </p:txBody>
      </p:sp>
      <p:sp>
        <p:nvSpPr>
          <p:cNvPr id="6" name="object 6"/>
          <p:cNvSpPr txBox="1">
            <a:spLocks noGrp="1"/>
          </p:cNvSpPr>
          <p:nvPr>
            <p:ph type="ftr" sz="quarter" idx="5"/>
          </p:nvPr>
        </p:nvSpPr>
        <p:spPr>
          <a:xfrm>
            <a:off x="4693350" y="7143391"/>
            <a:ext cx="1303656" cy="141064"/>
          </a:xfrm>
          <a:prstGeom prst="rect">
            <a:avLst/>
          </a:prstGeom>
        </p:spPr>
        <p:txBody>
          <a:bodyPr vert="horz" wrap="square" lIns="0" tIns="0" rIns="0" bIns="0" rtlCol="0">
            <a:spAutoFit/>
          </a:bodyPr>
          <a:lstStyle/>
          <a:p>
            <a:pPr marL="26034">
              <a:lnSpc>
                <a:spcPts val="1050"/>
              </a:lnSpc>
            </a:pPr>
            <a:r>
              <a:rPr dirty="0"/>
              <a:t>IV </a:t>
            </a:r>
            <a:r>
              <a:rPr spc="-20" dirty="0"/>
              <a:t>ECE-</a:t>
            </a:r>
            <a:r>
              <a:rPr lang="en-US" spc="-20" dirty="0"/>
              <a:t>C</a:t>
            </a:r>
            <a:r>
              <a:rPr spc="215" dirty="0"/>
              <a:t>  </a:t>
            </a:r>
            <a:r>
              <a:rPr dirty="0"/>
              <a:t>BATCH</a:t>
            </a:r>
            <a:r>
              <a:rPr spc="-5" dirty="0"/>
              <a:t> </a:t>
            </a:r>
            <a:r>
              <a:rPr spc="-20" dirty="0"/>
              <a:t>NO.2</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76835">
              <a:lnSpc>
                <a:spcPts val="1050"/>
              </a:lnSpc>
            </a:pPr>
            <a:fld id="{81D60167-4931-47E6-BA6A-407CBD079E47}" type="slidenum">
              <a:rPr spc="-50" dirty="0"/>
              <a:t>4</a:t>
            </a:fld>
            <a:endParaRPr spc="-50" dirty="0"/>
          </a:p>
        </p:txBody>
      </p:sp>
      <p:sp>
        <p:nvSpPr>
          <p:cNvPr id="5" name="object 5"/>
          <p:cNvSpPr txBox="1"/>
          <p:nvPr/>
        </p:nvSpPr>
        <p:spPr>
          <a:xfrm>
            <a:off x="1155700" y="1744207"/>
            <a:ext cx="8895890" cy="3995004"/>
          </a:xfrm>
          <a:prstGeom prst="rect">
            <a:avLst/>
          </a:prstGeom>
        </p:spPr>
        <p:txBody>
          <a:bodyPr vert="horz" wrap="square" lIns="0" tIns="181610" rIns="0" bIns="0" rtlCol="0">
            <a:sp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This project proposes a smart and secure campus placement portal using Artificial Intelligence. It uses Federated Learning to protect student data privacy, Graph Neural Networks to map students with suitable jobs, and Explainable AI to show why a student matches a job. The system also extracts skills from resumes, predicts job-fit scores, identifies skill gaps, and provides personalized learning suggestions, making the placement process intelligent, transparent, and efficient.</a:t>
            </a:r>
            <a:r>
              <a:rPr lang="en-IN" sz="24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xfrm>
            <a:off x="1564671" y="441330"/>
            <a:ext cx="7564056" cy="791714"/>
          </a:xfrm>
          <a:prstGeom prst="rect">
            <a:avLst/>
          </a:prstGeom>
        </p:spPr>
        <p:txBody>
          <a:bodyPr vert="horz" wrap="square" lIns="0" tIns="250657" rIns="0" bIns="0" rtlCol="0">
            <a:spAutoFit/>
          </a:bodyPr>
          <a:lstStyle/>
          <a:p>
            <a:pPr marL="2087880">
              <a:lnSpc>
                <a:spcPct val="100000"/>
              </a:lnSpc>
              <a:spcBef>
                <a:spcPts val="125"/>
              </a:spcBef>
            </a:pPr>
            <a:r>
              <a:rPr sz="3500" b="1" spc="-10" dirty="0"/>
              <a:t>INTRODUCTION</a:t>
            </a:r>
            <a:endParaRPr sz="3500" b="1" dirty="0"/>
          </a:p>
        </p:txBody>
      </p:sp>
      <p:sp>
        <p:nvSpPr>
          <p:cNvPr id="5" name="object 5"/>
          <p:cNvSpPr txBox="1"/>
          <p:nvPr/>
        </p:nvSpPr>
        <p:spPr>
          <a:xfrm>
            <a:off x="901996" y="1647825"/>
            <a:ext cx="8864303" cy="5916491"/>
          </a:xfrm>
          <a:prstGeom prst="rect">
            <a:avLst/>
          </a:prstGeom>
        </p:spPr>
        <p:txBody>
          <a:bodyPr vert="horz" wrap="square" lIns="0" tIns="181610" rIns="0" bIns="0" rtlCol="0">
            <a:spAutoFit/>
          </a:bodyPr>
          <a:lstStyle/>
          <a:p>
            <a:pPr marL="326390" indent="-313690">
              <a:lnSpc>
                <a:spcPct val="100000"/>
              </a:lnSpc>
              <a:spcBef>
                <a:spcPts val="1430"/>
              </a:spcBef>
              <a:buFont typeface="Arial MT"/>
              <a:buChar char="•"/>
              <a:tabLst>
                <a:tab pos="326390" algn="l"/>
              </a:tabLst>
            </a:pPr>
            <a:r>
              <a:rPr lang="en-US" sz="2200" dirty="0">
                <a:latin typeface="Times New Roman" panose="02020603050405020304" pitchFamily="18" charset="0"/>
                <a:cs typeface="Times New Roman" panose="02020603050405020304" pitchFamily="18" charset="0"/>
              </a:rPr>
              <a:t>Campus placement systems are crucial for student career growth but face challenges in scalability, privacy, and transparency.</a:t>
            </a:r>
          </a:p>
          <a:p>
            <a:pPr marL="326390" marR="5080" indent="-314325">
              <a:lnSpc>
                <a:spcPct val="150000"/>
              </a:lnSpc>
              <a:spcBef>
                <a:spcPts val="10"/>
              </a:spcBef>
              <a:buFont typeface="Arial MT"/>
              <a:buChar char="•"/>
              <a:tabLst>
                <a:tab pos="326390" algn="l"/>
              </a:tabLst>
            </a:pPr>
            <a:r>
              <a:rPr lang="en-US" sz="2200" dirty="0">
                <a:latin typeface="Times New Roman" panose="02020603050405020304" pitchFamily="18" charset="0"/>
                <a:cs typeface="Times New Roman" panose="02020603050405020304" pitchFamily="18" charset="0"/>
              </a:rPr>
              <a:t>Traditional centralized systems raise concerns about sensitive student data security.</a:t>
            </a:r>
          </a:p>
          <a:p>
            <a:pPr marL="326390" marR="5080" indent="-314325">
              <a:lnSpc>
                <a:spcPct val="150000"/>
              </a:lnSpc>
              <a:spcBef>
                <a:spcPts val="10"/>
              </a:spcBef>
              <a:buFont typeface="Arial MT"/>
              <a:buChar char="•"/>
              <a:tabLst>
                <a:tab pos="326390" algn="l"/>
              </a:tabLst>
            </a:pPr>
            <a:r>
              <a:rPr lang="en-US" sz="2200" dirty="0">
                <a:latin typeface="Times New Roman" panose="02020603050405020304" pitchFamily="18" charset="0"/>
                <a:cs typeface="Times New Roman" panose="02020603050405020304" pitchFamily="18" charset="0"/>
              </a:rPr>
              <a:t>Existing AI-based job matching lacks explainability and personalized guidance.</a:t>
            </a:r>
          </a:p>
          <a:p>
            <a:pPr marL="326390" marR="5080" indent="-314325">
              <a:lnSpc>
                <a:spcPct val="150400"/>
              </a:lnSpc>
              <a:buFont typeface="Arial MT"/>
              <a:buChar char="•"/>
              <a:tabLst>
                <a:tab pos="326390" algn="l"/>
              </a:tabLst>
            </a:pPr>
            <a:r>
              <a:rPr lang="en-US" sz="2200" dirty="0">
                <a:latin typeface="Times New Roman" panose="02020603050405020304" pitchFamily="18" charset="0"/>
                <a:cs typeface="Times New Roman" panose="02020603050405020304" pitchFamily="18" charset="0"/>
              </a:rPr>
              <a:t>Advanced AI techniques can improve job recommendations and skill analysis.</a:t>
            </a:r>
            <a:endParaRPr lang="en-US" sz="2200" spc="90" dirty="0">
              <a:latin typeface="Times New Roman" panose="02020603050405020304" pitchFamily="18" charset="0"/>
              <a:cs typeface="Times New Roman" panose="02020603050405020304" pitchFamily="18" charset="0"/>
            </a:endParaRPr>
          </a:p>
          <a:p>
            <a:pPr marL="326390" marR="5080" indent="-314325">
              <a:lnSpc>
                <a:spcPct val="150400"/>
              </a:lnSpc>
              <a:buFont typeface="Arial MT"/>
              <a:buChar char="•"/>
              <a:tabLst>
                <a:tab pos="326390" algn="l"/>
              </a:tabLst>
            </a:pPr>
            <a:r>
              <a:rPr lang="en-US" sz="2200" dirty="0">
                <a:latin typeface="Times New Roman" panose="02020603050405020304" pitchFamily="18" charset="0"/>
                <a:cs typeface="Times New Roman" panose="02020603050405020304" pitchFamily="18" charset="0"/>
              </a:rPr>
              <a:t>This project proposes a privacy-preserving, explainable, and intelligent campus placement system using Federated Learning, Graph Neural Networks, and Explainable AI</a:t>
            </a:r>
            <a:endParaRPr lang="en-US" sz="2200" dirty="0"/>
          </a:p>
          <a:p>
            <a:pPr marL="326390" marR="5080" indent="-314325">
              <a:lnSpc>
                <a:spcPct val="150400"/>
              </a:lnSpc>
              <a:buFont typeface="Arial MT"/>
              <a:buChar char="•"/>
              <a:tabLst>
                <a:tab pos="326390" algn="l"/>
              </a:tabLst>
            </a:pPr>
            <a:endParaRPr lang="en-US" sz="2400" dirty="0"/>
          </a:p>
        </p:txBody>
      </p:sp>
      <p:sp>
        <p:nvSpPr>
          <p:cNvPr id="7" name="object 7"/>
          <p:cNvSpPr txBox="1">
            <a:spLocks noGrp="1"/>
          </p:cNvSpPr>
          <p:nvPr>
            <p:ph type="ftr" sz="quarter" idx="5"/>
          </p:nvPr>
        </p:nvSpPr>
        <p:spPr>
          <a:xfrm>
            <a:off x="4693350" y="7143391"/>
            <a:ext cx="1303656" cy="141064"/>
          </a:xfrm>
          <a:prstGeom prst="rect">
            <a:avLst/>
          </a:prstGeom>
        </p:spPr>
        <p:txBody>
          <a:bodyPr vert="horz" wrap="square" lIns="0" tIns="0" rIns="0" bIns="0" rtlCol="0">
            <a:spAutoFit/>
          </a:bodyPr>
          <a:lstStyle/>
          <a:p>
            <a:pPr marL="26034">
              <a:lnSpc>
                <a:spcPts val="1050"/>
              </a:lnSpc>
            </a:pPr>
            <a:r>
              <a:rPr dirty="0"/>
              <a:t>IV </a:t>
            </a:r>
            <a:r>
              <a:rPr spc="-20" dirty="0"/>
              <a:t>ECE-</a:t>
            </a:r>
            <a:r>
              <a:rPr lang="en-US" spc="-20" dirty="0"/>
              <a:t>C</a:t>
            </a:r>
            <a:r>
              <a:rPr spc="215" dirty="0"/>
              <a:t>  </a:t>
            </a:r>
            <a:r>
              <a:rPr dirty="0"/>
              <a:t>BATCH</a:t>
            </a:r>
            <a:r>
              <a:rPr spc="-5" dirty="0"/>
              <a:t> </a:t>
            </a:r>
            <a:r>
              <a:rPr spc="-20" dirty="0"/>
              <a:t>NO.2</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76835">
              <a:lnSpc>
                <a:spcPts val="1050"/>
              </a:lnSpc>
            </a:pPr>
            <a:fld id="{81D60167-4931-47E6-BA6A-407CBD079E47}" type="slidenum">
              <a:rPr spc="-50" dirty="0"/>
              <a:t>5</a:t>
            </a:fld>
            <a:endParaRPr spc="-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xfrm>
            <a:off x="1564671" y="441330"/>
            <a:ext cx="7564056" cy="554639"/>
          </a:xfrm>
          <a:prstGeom prst="rect">
            <a:avLst/>
          </a:prstGeom>
        </p:spPr>
        <p:txBody>
          <a:bodyPr vert="horz" wrap="square" lIns="0" tIns="15875" rIns="0" bIns="0" rtlCol="0">
            <a:spAutoFit/>
          </a:bodyPr>
          <a:lstStyle/>
          <a:p>
            <a:pPr marL="1396365">
              <a:lnSpc>
                <a:spcPct val="100000"/>
              </a:lnSpc>
              <a:spcBef>
                <a:spcPts val="125"/>
              </a:spcBef>
            </a:pPr>
            <a:r>
              <a:rPr sz="3500" b="1" dirty="0"/>
              <a:t>PROBLEM</a:t>
            </a:r>
            <a:r>
              <a:rPr sz="3500" b="1" spc="-25" dirty="0"/>
              <a:t> </a:t>
            </a:r>
            <a:r>
              <a:rPr sz="3500" b="1" spc="-10" dirty="0"/>
              <a:t>DEFINITION</a:t>
            </a:r>
            <a:endParaRPr sz="3500" b="1" dirty="0"/>
          </a:p>
        </p:txBody>
      </p:sp>
      <p:sp>
        <p:nvSpPr>
          <p:cNvPr id="5" name="object 5"/>
          <p:cNvSpPr txBox="1"/>
          <p:nvPr/>
        </p:nvSpPr>
        <p:spPr>
          <a:xfrm>
            <a:off x="738638" y="1984842"/>
            <a:ext cx="8905052" cy="3823804"/>
          </a:xfrm>
          <a:prstGeom prst="rect">
            <a:avLst/>
          </a:prstGeom>
        </p:spPr>
        <p:txBody>
          <a:bodyPr vert="horz" wrap="square" lIns="0" tIns="12065" rIns="0" bIns="0" rtlCol="0">
            <a:spAutoFit/>
          </a:bodyPr>
          <a:lstStyle/>
          <a:p>
            <a:pPr marL="0" lvl="0" indent="0" algn="just" eaLnBrk="0" fontAlgn="base" hangingPunct="0">
              <a:lnSpc>
                <a:spcPct val="150000"/>
              </a:lnSpc>
              <a:spcBef>
                <a:spcPct val="0"/>
              </a:spcBef>
              <a:spcAft>
                <a:spcPct val="0"/>
              </a:spcAft>
              <a:buNone/>
            </a:pPr>
            <a:r>
              <a:rPr lang="en-US" altLang="en-US" sz="2400" dirty="0">
                <a:latin typeface="Times New Roman" panose="02020603050405020304" pitchFamily="18" charset="0"/>
                <a:cs typeface="Times New Roman" panose="02020603050405020304" pitchFamily="18" charset="0"/>
              </a:rPr>
              <a:t>Traditional campus placement systems are mostly centralized, lack transparency in job recommendations, and raise concerns about student data privacy. They do not effectively analyze complex relationships between students, skills, and job roles, and fail to guide students on how to improve their employability. Hence, there is a need for a secure, intelligent, and explainable placement system that ensures privacy while delivering accurate and personalized job matching. </a:t>
            </a:r>
          </a:p>
        </p:txBody>
      </p:sp>
      <p:sp>
        <p:nvSpPr>
          <p:cNvPr id="8" name="object 8"/>
          <p:cNvSpPr txBox="1">
            <a:spLocks noGrp="1"/>
          </p:cNvSpPr>
          <p:nvPr>
            <p:ph type="ftr" sz="quarter" idx="5"/>
          </p:nvPr>
        </p:nvSpPr>
        <p:spPr>
          <a:xfrm>
            <a:off x="4693350" y="7143391"/>
            <a:ext cx="1303656" cy="141064"/>
          </a:xfrm>
          <a:prstGeom prst="rect">
            <a:avLst/>
          </a:prstGeom>
        </p:spPr>
        <p:txBody>
          <a:bodyPr vert="horz" wrap="square" lIns="0" tIns="0" rIns="0" bIns="0" rtlCol="0">
            <a:spAutoFit/>
          </a:bodyPr>
          <a:lstStyle/>
          <a:p>
            <a:pPr marL="13335">
              <a:lnSpc>
                <a:spcPts val="1050"/>
              </a:lnSpc>
              <a:tabLst>
                <a:tab pos="588645" algn="l"/>
              </a:tabLst>
            </a:pPr>
            <a:r>
              <a:rPr dirty="0"/>
              <a:t>IV</a:t>
            </a:r>
            <a:r>
              <a:rPr spc="15" dirty="0"/>
              <a:t> </a:t>
            </a:r>
            <a:r>
              <a:rPr spc="-20" dirty="0"/>
              <a:t>ECE-</a:t>
            </a:r>
            <a:r>
              <a:rPr lang="en-US" spc="-50" dirty="0"/>
              <a:t>C</a:t>
            </a:r>
            <a:r>
              <a:rPr dirty="0"/>
              <a:t>	BATCH</a:t>
            </a:r>
            <a:r>
              <a:rPr spc="-55" dirty="0"/>
              <a:t> </a:t>
            </a:r>
            <a:r>
              <a:rPr spc="-20" dirty="0"/>
              <a:t>NO.2</a:t>
            </a:r>
          </a:p>
        </p:txBody>
      </p:sp>
      <p:sp>
        <p:nvSpPr>
          <p:cNvPr id="9" name="object 9"/>
          <p:cNvSpPr txBox="1">
            <a:spLocks noGrp="1"/>
          </p:cNvSpPr>
          <p:nvPr>
            <p:ph type="sldNum" sz="quarter" idx="7"/>
          </p:nvPr>
        </p:nvSpPr>
        <p:spPr>
          <a:prstGeom prst="rect">
            <a:avLst/>
          </a:prstGeom>
        </p:spPr>
        <p:txBody>
          <a:bodyPr vert="horz" wrap="square" lIns="0" tIns="0" rIns="0" bIns="0" rtlCol="0">
            <a:spAutoFit/>
          </a:bodyPr>
          <a:lstStyle/>
          <a:p>
            <a:pPr marL="76835">
              <a:lnSpc>
                <a:spcPts val="1050"/>
              </a:lnSpc>
            </a:pPr>
            <a:fld id="{81D60167-4931-47E6-BA6A-407CBD079E47}" type="slidenum">
              <a:rPr spc="-50" dirty="0"/>
              <a:t>6</a:t>
            </a:fld>
            <a:endParaRPr spc="-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xfrm>
            <a:off x="-825500" y="815936"/>
            <a:ext cx="11430000" cy="554639"/>
          </a:xfrm>
          <a:prstGeom prst="rect">
            <a:avLst/>
          </a:prstGeom>
        </p:spPr>
        <p:txBody>
          <a:bodyPr vert="horz" wrap="square" lIns="0" tIns="15875" rIns="0" bIns="0" rtlCol="0">
            <a:spAutoFit/>
          </a:bodyPr>
          <a:lstStyle/>
          <a:p>
            <a:pPr marL="1461770">
              <a:lnSpc>
                <a:spcPct val="100000"/>
              </a:lnSpc>
              <a:spcBef>
                <a:spcPts val="125"/>
              </a:spcBef>
            </a:pPr>
            <a:r>
              <a:rPr lang="en-US" sz="3500" b="1" dirty="0"/>
              <a:t>MOTIVATION BEHIND PROBLEM SELECTION</a:t>
            </a:r>
            <a:endParaRPr sz="3500" b="1" dirty="0"/>
          </a:p>
        </p:txBody>
      </p:sp>
      <p:sp>
        <p:nvSpPr>
          <p:cNvPr id="6" name="object 6"/>
          <p:cNvSpPr txBox="1">
            <a:spLocks noGrp="1"/>
          </p:cNvSpPr>
          <p:nvPr>
            <p:ph type="ftr" sz="quarter" idx="5"/>
          </p:nvPr>
        </p:nvSpPr>
        <p:spPr>
          <a:xfrm>
            <a:off x="4693350" y="7143391"/>
            <a:ext cx="1303656" cy="141064"/>
          </a:xfrm>
          <a:prstGeom prst="rect">
            <a:avLst/>
          </a:prstGeom>
        </p:spPr>
        <p:txBody>
          <a:bodyPr vert="horz" wrap="square" lIns="0" tIns="0" rIns="0" bIns="0" rtlCol="0">
            <a:spAutoFit/>
          </a:bodyPr>
          <a:lstStyle/>
          <a:p>
            <a:pPr marL="26034">
              <a:lnSpc>
                <a:spcPts val="1050"/>
              </a:lnSpc>
            </a:pPr>
            <a:r>
              <a:rPr dirty="0"/>
              <a:t>IV </a:t>
            </a:r>
            <a:r>
              <a:rPr spc="-20" dirty="0"/>
              <a:t>ECE-</a:t>
            </a:r>
            <a:r>
              <a:rPr lang="en-US" spc="-20" dirty="0"/>
              <a:t>C</a:t>
            </a:r>
            <a:r>
              <a:rPr spc="215" dirty="0"/>
              <a:t>  </a:t>
            </a:r>
            <a:r>
              <a:rPr dirty="0"/>
              <a:t>BATCH</a:t>
            </a:r>
            <a:r>
              <a:rPr spc="-5" dirty="0"/>
              <a:t> </a:t>
            </a:r>
            <a:r>
              <a:rPr spc="-20" dirty="0"/>
              <a:t>NO.2</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76835">
              <a:lnSpc>
                <a:spcPts val="1050"/>
              </a:lnSpc>
            </a:pPr>
            <a:fld id="{81D60167-4931-47E6-BA6A-407CBD079E47}" type="slidenum">
              <a:rPr spc="-50" dirty="0"/>
              <a:t>7</a:t>
            </a:fld>
            <a:endParaRPr spc="-50" dirty="0"/>
          </a:p>
        </p:txBody>
      </p:sp>
      <p:sp>
        <p:nvSpPr>
          <p:cNvPr id="5" name="object 5"/>
          <p:cNvSpPr txBox="1"/>
          <p:nvPr/>
        </p:nvSpPr>
        <p:spPr>
          <a:xfrm>
            <a:off x="1001682" y="1668821"/>
            <a:ext cx="8183245" cy="3876702"/>
          </a:xfrm>
          <a:prstGeom prst="rect">
            <a:avLst/>
          </a:prstGeom>
        </p:spPr>
        <p:txBody>
          <a:bodyPr vert="horz" wrap="square" lIns="0" tIns="181610" rIns="0" bIns="0"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Growing concern over privacy of sensitive student academic and personal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Lack of transparency in AI-based job recommendations for students.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Need for smarter job matching using relationships between skills, students, and companies.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Desire to help students identify skill gaps and improve employability.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modernize campus placements with secure, explainable, and intelligent AI solution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prstGeom prst="rect">
            <a:avLst/>
          </a:prstGeom>
        </p:spPr>
        <p:txBody>
          <a:bodyPr vert="horz" wrap="square" lIns="0" tIns="360281" rIns="0" bIns="0" rtlCol="0">
            <a:spAutoFit/>
          </a:bodyPr>
          <a:lstStyle/>
          <a:p>
            <a:pPr marL="1086485">
              <a:lnSpc>
                <a:spcPct val="100000"/>
              </a:lnSpc>
              <a:spcBef>
                <a:spcPts val="125"/>
              </a:spcBef>
            </a:pPr>
            <a:r>
              <a:rPr sz="3500" b="1" dirty="0">
                <a:latin typeface="Times New Roman"/>
                <a:cs typeface="Times New Roman"/>
              </a:rPr>
              <a:t>EXISTING</a:t>
            </a:r>
            <a:r>
              <a:rPr sz="3500" b="1" spc="-25" dirty="0">
                <a:latin typeface="Times New Roman"/>
                <a:cs typeface="Times New Roman"/>
              </a:rPr>
              <a:t> </a:t>
            </a:r>
            <a:r>
              <a:rPr sz="3500" b="1" spc="-10" dirty="0">
                <a:latin typeface="Times New Roman"/>
                <a:cs typeface="Times New Roman"/>
              </a:rPr>
              <a:t>METHODOLOGY</a:t>
            </a:r>
            <a:endParaRPr sz="3500" b="1" dirty="0">
              <a:latin typeface="Times New Roman"/>
              <a:cs typeface="Times New Roman"/>
            </a:endParaRPr>
          </a:p>
        </p:txBody>
      </p:sp>
      <p:sp>
        <p:nvSpPr>
          <p:cNvPr id="5" name="object 5"/>
          <p:cNvSpPr txBox="1"/>
          <p:nvPr/>
        </p:nvSpPr>
        <p:spPr>
          <a:xfrm>
            <a:off x="316991" y="1952625"/>
            <a:ext cx="7239509" cy="4970913"/>
          </a:xfrm>
          <a:prstGeom prst="rect">
            <a:avLst/>
          </a:prstGeom>
        </p:spPr>
        <p:txBody>
          <a:bodyPr vert="horz" wrap="square" lIns="0" tIns="50800" rIns="0" bIns="0" rtlCol="0">
            <a:spAutoFit/>
          </a:bodyPr>
          <a:lstStyle/>
          <a:p>
            <a:pPr lvl="0" eaLnBrk="0" fontAlgn="base" hangingPunct="0">
              <a:lnSpc>
                <a:spcPct val="150000"/>
              </a:lnSpc>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 Uses centralized databases to store student and company information.</a:t>
            </a:r>
          </a:p>
          <a:p>
            <a:pPr lvl="0" eaLnBrk="0" fontAlgn="base" hangingPunct="0">
              <a:lnSpc>
                <a:spcPct val="150000"/>
              </a:lnSpc>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 Requires students to upload sensitive personal and academic data to a central server.</a:t>
            </a:r>
          </a:p>
          <a:p>
            <a:pPr lvl="0" eaLnBrk="0" fontAlgn="base" hangingPunct="0">
              <a:lnSpc>
                <a:spcPct val="150000"/>
              </a:lnSpc>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 Job recommendations are based on basic filtering or keyword matching techniques.</a:t>
            </a:r>
          </a:p>
          <a:p>
            <a:pPr lvl="0" eaLnBrk="0" fontAlgn="base" hangingPunct="0">
              <a:lnSpc>
                <a:spcPct val="150000"/>
              </a:lnSpc>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 The system primarily focuses on eligibility-based matching using predefined criteria such as CGPA and core skills.</a:t>
            </a:r>
          </a:p>
        </p:txBody>
      </p:sp>
      <p:sp>
        <p:nvSpPr>
          <p:cNvPr id="7" name="object 7"/>
          <p:cNvSpPr txBox="1">
            <a:spLocks noGrp="1"/>
          </p:cNvSpPr>
          <p:nvPr>
            <p:ph type="ftr" sz="quarter" idx="5"/>
          </p:nvPr>
        </p:nvSpPr>
        <p:spPr>
          <a:xfrm>
            <a:off x="4693350" y="7143391"/>
            <a:ext cx="1303656" cy="141064"/>
          </a:xfrm>
          <a:prstGeom prst="rect">
            <a:avLst/>
          </a:prstGeom>
        </p:spPr>
        <p:txBody>
          <a:bodyPr vert="horz" wrap="square" lIns="0" tIns="0" rIns="0" bIns="0" rtlCol="0">
            <a:spAutoFit/>
          </a:bodyPr>
          <a:lstStyle/>
          <a:p>
            <a:pPr marL="26034">
              <a:lnSpc>
                <a:spcPts val="1050"/>
              </a:lnSpc>
            </a:pPr>
            <a:r>
              <a:rPr dirty="0"/>
              <a:t>IV </a:t>
            </a:r>
            <a:r>
              <a:rPr spc="-20" dirty="0"/>
              <a:t>ECE-</a:t>
            </a:r>
            <a:r>
              <a:rPr lang="en-US" spc="-20" dirty="0"/>
              <a:t>C</a:t>
            </a:r>
            <a:r>
              <a:rPr spc="215" dirty="0"/>
              <a:t>  </a:t>
            </a:r>
            <a:r>
              <a:rPr dirty="0"/>
              <a:t>BATCH</a:t>
            </a:r>
            <a:r>
              <a:rPr spc="-5" dirty="0"/>
              <a:t> </a:t>
            </a:r>
            <a:r>
              <a:rPr spc="-20" dirty="0"/>
              <a:t>NO.2</a:t>
            </a:r>
          </a:p>
        </p:txBody>
      </p:sp>
      <p:sp>
        <p:nvSpPr>
          <p:cNvPr id="8" name="object 8"/>
          <p:cNvSpPr txBox="1">
            <a:spLocks noGrp="1"/>
          </p:cNvSpPr>
          <p:nvPr>
            <p:ph type="sldNum" sz="quarter" idx="7"/>
          </p:nvPr>
        </p:nvSpPr>
        <p:spPr>
          <a:prstGeom prst="rect">
            <a:avLst/>
          </a:prstGeom>
        </p:spPr>
        <p:txBody>
          <a:bodyPr vert="horz" wrap="square" lIns="0" tIns="0" rIns="0" bIns="0" rtlCol="0">
            <a:spAutoFit/>
          </a:bodyPr>
          <a:lstStyle/>
          <a:p>
            <a:pPr marL="76835">
              <a:lnSpc>
                <a:spcPts val="1050"/>
              </a:lnSpc>
            </a:pPr>
            <a:fld id="{81D60167-4931-47E6-BA6A-407CBD079E47}" type="slidenum">
              <a:rPr spc="-50" dirty="0"/>
              <a:t>8</a:t>
            </a:fld>
            <a:endParaRPr spc="-50" dirty="0"/>
          </a:p>
        </p:txBody>
      </p:sp>
      <p:pic>
        <p:nvPicPr>
          <p:cNvPr id="1026" name="Picture 2">
            <a:extLst>
              <a:ext uri="{FF2B5EF4-FFF2-40B4-BE49-F238E27FC236}">
                <a16:creationId xmlns:a16="http://schemas.microsoft.com/office/drawing/2014/main" id="{56F10A30-6993-01D9-2FD8-4BDB214BA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2327" y="2555128"/>
            <a:ext cx="2985558" cy="29855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prstGeom prst="rect">
            <a:avLst/>
          </a:prstGeom>
        </p:spPr>
        <p:txBody>
          <a:bodyPr vert="horz" wrap="square" lIns="0" tIns="372535" rIns="0" bIns="0" rtlCol="0">
            <a:spAutoFit/>
          </a:bodyPr>
          <a:lstStyle/>
          <a:p>
            <a:pPr marL="995044">
              <a:lnSpc>
                <a:spcPct val="100000"/>
              </a:lnSpc>
              <a:spcBef>
                <a:spcPts val="125"/>
              </a:spcBef>
            </a:pPr>
            <a:r>
              <a:rPr sz="3500" b="1" dirty="0">
                <a:latin typeface="Times New Roman"/>
                <a:cs typeface="Times New Roman"/>
              </a:rPr>
              <a:t>PROPOSED</a:t>
            </a:r>
            <a:r>
              <a:rPr sz="3500" b="1" spc="-40" dirty="0">
                <a:latin typeface="Times New Roman"/>
                <a:cs typeface="Times New Roman"/>
              </a:rPr>
              <a:t> </a:t>
            </a:r>
            <a:r>
              <a:rPr sz="3500" b="1" spc="-10" dirty="0">
                <a:latin typeface="Times New Roman"/>
                <a:cs typeface="Times New Roman"/>
              </a:rPr>
              <a:t>METHODOLOGY</a:t>
            </a:r>
            <a:endParaRPr sz="3500">
              <a:latin typeface="Times New Roman"/>
              <a:cs typeface="Times New Roman"/>
            </a:endParaRPr>
          </a:p>
        </p:txBody>
      </p:sp>
      <p:sp>
        <p:nvSpPr>
          <p:cNvPr id="6" name="object 6"/>
          <p:cNvSpPr txBox="1">
            <a:spLocks noGrp="1"/>
          </p:cNvSpPr>
          <p:nvPr>
            <p:ph type="ftr" sz="quarter" idx="5"/>
          </p:nvPr>
        </p:nvSpPr>
        <p:spPr>
          <a:xfrm>
            <a:off x="4693350" y="7143391"/>
            <a:ext cx="1303656" cy="141064"/>
          </a:xfrm>
          <a:prstGeom prst="rect">
            <a:avLst/>
          </a:prstGeom>
        </p:spPr>
        <p:txBody>
          <a:bodyPr vert="horz" wrap="square" lIns="0" tIns="0" rIns="0" bIns="0" rtlCol="0">
            <a:spAutoFit/>
          </a:bodyPr>
          <a:lstStyle/>
          <a:p>
            <a:pPr marL="26034">
              <a:lnSpc>
                <a:spcPts val="1050"/>
              </a:lnSpc>
            </a:pPr>
            <a:r>
              <a:rPr dirty="0"/>
              <a:t>IV </a:t>
            </a:r>
            <a:r>
              <a:rPr spc="-20" dirty="0"/>
              <a:t>ECE-</a:t>
            </a:r>
            <a:r>
              <a:rPr lang="en-US" spc="-20" dirty="0"/>
              <a:t>C</a:t>
            </a:r>
            <a:r>
              <a:rPr spc="215" dirty="0"/>
              <a:t>  </a:t>
            </a:r>
            <a:r>
              <a:rPr dirty="0"/>
              <a:t>BATCH</a:t>
            </a:r>
            <a:r>
              <a:rPr spc="-5" dirty="0"/>
              <a:t> </a:t>
            </a:r>
            <a:r>
              <a:rPr spc="-20" dirty="0"/>
              <a:t>NO.2</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76835">
              <a:lnSpc>
                <a:spcPts val="1050"/>
              </a:lnSpc>
            </a:pPr>
            <a:fld id="{81D60167-4931-47E6-BA6A-407CBD079E47}" type="slidenum">
              <a:rPr spc="-50" dirty="0"/>
              <a:t>9</a:t>
            </a:fld>
            <a:endParaRPr spc="-50" dirty="0"/>
          </a:p>
        </p:txBody>
      </p:sp>
      <p:sp>
        <p:nvSpPr>
          <p:cNvPr id="5" name="object 5"/>
          <p:cNvSpPr txBox="1"/>
          <p:nvPr/>
        </p:nvSpPr>
        <p:spPr>
          <a:xfrm>
            <a:off x="1083390" y="1672898"/>
            <a:ext cx="9292510" cy="4824398"/>
          </a:xfrm>
          <a:prstGeom prst="rect">
            <a:avLst/>
          </a:prstGeom>
        </p:spPr>
        <p:txBody>
          <a:bodyPr vert="horz" wrap="square" lIns="0" tIns="83820" rIns="0" bIns="0" rtlCol="0">
            <a:spAutoFit/>
          </a:bodyPr>
          <a:lstStyle/>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Implements Federated Learning to ensure privacy by training models locally without sharing student data.</a:t>
            </a: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Uses Graph Neural Networks for intelligent mapping between students, skills, and job roles.</a:t>
            </a: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Applies Explainable AI to provide transparent and understandable job recommendations.</a:t>
            </a: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Automates placement workflows using AI and NLP for efficient resume analysis and job matching.</a:t>
            </a: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Delivers personalized skill-gap analysis and learning recommendations to improve employability.</a:t>
            </a: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Provides automated email alerts to students regarding selection and non-selection status, ensuring timely and transparent communication.</a:t>
            </a:r>
          </a:p>
          <a:p>
            <a:pPr marL="342900" indent="-342900"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Integrates an AI-powered chatbot to assist students with real-time queries, placement guidance, and system navigation.</a:t>
            </a:r>
            <a:endParaRPr lang="en-IN"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01EFE0-B0A6-EF05-AADA-B3D744644CEB}"/>
              </a:ext>
            </a:extLst>
          </p:cNvPr>
          <p:cNvSpPr/>
          <p:nvPr/>
        </p:nvSpPr>
        <p:spPr>
          <a:xfrm>
            <a:off x="88900" y="2425655"/>
            <a:ext cx="1458727" cy="1059792"/>
          </a:xfrm>
          <a:prstGeom prst="rect">
            <a:avLst/>
          </a:prstGeom>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Student</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Registration</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Arrow: Right 4">
            <a:extLst>
              <a:ext uri="{FF2B5EF4-FFF2-40B4-BE49-F238E27FC236}">
                <a16:creationId xmlns:a16="http://schemas.microsoft.com/office/drawing/2014/main" id="{2DB067C4-9456-D149-84D1-CD733597293A}"/>
              </a:ext>
            </a:extLst>
          </p:cNvPr>
          <p:cNvSpPr/>
          <p:nvPr/>
        </p:nvSpPr>
        <p:spPr>
          <a:xfrm>
            <a:off x="1587682" y="2826658"/>
            <a:ext cx="398236" cy="2329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C1CFB79-E7E0-E523-6479-5F46F97412EF}"/>
              </a:ext>
            </a:extLst>
          </p:cNvPr>
          <p:cNvSpPr/>
          <p:nvPr/>
        </p:nvSpPr>
        <p:spPr>
          <a:xfrm>
            <a:off x="1985918" y="2425655"/>
            <a:ext cx="1250745" cy="1059792"/>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Resume </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Upload</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7" name="Arrow: Right 6">
            <a:extLst>
              <a:ext uri="{FF2B5EF4-FFF2-40B4-BE49-F238E27FC236}">
                <a16:creationId xmlns:a16="http://schemas.microsoft.com/office/drawing/2014/main" id="{71F4CDAB-E373-090D-9913-F3B5B4443CFF}"/>
              </a:ext>
            </a:extLst>
          </p:cNvPr>
          <p:cNvSpPr/>
          <p:nvPr/>
        </p:nvSpPr>
        <p:spPr>
          <a:xfrm>
            <a:off x="3236663" y="2826658"/>
            <a:ext cx="553766" cy="257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22FFF6BD-186D-2864-B303-3DBDE85E3D12}"/>
              </a:ext>
            </a:extLst>
          </p:cNvPr>
          <p:cNvSpPr/>
          <p:nvPr/>
        </p:nvSpPr>
        <p:spPr>
          <a:xfrm>
            <a:off x="3790429" y="2425655"/>
            <a:ext cx="1250745" cy="1059792"/>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Skill </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Extraction</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 NLP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9" name="Arrow: Right 8">
            <a:extLst>
              <a:ext uri="{FF2B5EF4-FFF2-40B4-BE49-F238E27FC236}">
                <a16:creationId xmlns:a16="http://schemas.microsoft.com/office/drawing/2014/main" id="{5914A761-4E1C-0C90-5A40-2701C0969F1B}"/>
              </a:ext>
            </a:extLst>
          </p:cNvPr>
          <p:cNvSpPr/>
          <p:nvPr/>
        </p:nvSpPr>
        <p:spPr>
          <a:xfrm>
            <a:off x="5050722" y="2826658"/>
            <a:ext cx="553766" cy="257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FA65BE0B-F14D-31C3-F531-570926DF99B7}"/>
              </a:ext>
            </a:extLst>
          </p:cNvPr>
          <p:cNvSpPr/>
          <p:nvPr/>
        </p:nvSpPr>
        <p:spPr>
          <a:xfrm>
            <a:off x="5594940" y="1190626"/>
            <a:ext cx="2296669" cy="3287350"/>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pPr algn="ctr"/>
            <a:r>
              <a:rPr lang="en-US" b="1" dirty="0">
                <a:solidFill>
                  <a:schemeClr val="tx1"/>
                </a:solidFill>
                <a:latin typeface="Times New Roman" panose="02020603050405020304" pitchFamily="18" charset="0"/>
                <a:cs typeface="Times New Roman" panose="02020603050405020304" pitchFamily="18" charset="0"/>
              </a:rPr>
              <a:t>Local Model</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Training </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 FEDERATED LEARNING )</a:t>
            </a:r>
            <a:br>
              <a:rPr lang="en-US" b="1" dirty="0">
                <a:solidFill>
                  <a:schemeClr val="tx1"/>
                </a:solidFill>
                <a:latin typeface="Times New Roman" panose="02020603050405020304" pitchFamily="18" charset="0"/>
                <a:cs typeface="Times New Roman" panose="02020603050405020304" pitchFamily="18" charset="0"/>
              </a:rPr>
            </a:b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04BFB9B8-4675-CAE5-A550-BBFDEE68D428}"/>
              </a:ext>
            </a:extLst>
          </p:cNvPr>
          <p:cNvSpPr/>
          <p:nvPr/>
        </p:nvSpPr>
        <p:spPr>
          <a:xfrm>
            <a:off x="5760019" y="2515182"/>
            <a:ext cx="2000377" cy="343302"/>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DEPARTMENT 1</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4" name="Rectangle 13">
            <a:extLst>
              <a:ext uri="{FF2B5EF4-FFF2-40B4-BE49-F238E27FC236}">
                <a16:creationId xmlns:a16="http://schemas.microsoft.com/office/drawing/2014/main" id="{2445D558-2915-BB91-202D-0A4005DE6DDA}"/>
              </a:ext>
            </a:extLst>
          </p:cNvPr>
          <p:cNvSpPr/>
          <p:nvPr/>
        </p:nvSpPr>
        <p:spPr>
          <a:xfrm>
            <a:off x="5773800" y="3179188"/>
            <a:ext cx="1995237" cy="372359"/>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DEPARTMENT 2</a:t>
            </a:r>
          </a:p>
        </p:txBody>
      </p:sp>
      <p:sp>
        <p:nvSpPr>
          <p:cNvPr id="15" name="Rectangle 14">
            <a:extLst>
              <a:ext uri="{FF2B5EF4-FFF2-40B4-BE49-F238E27FC236}">
                <a16:creationId xmlns:a16="http://schemas.microsoft.com/office/drawing/2014/main" id="{8870A56E-9D4B-DCE7-B006-FF3C598E9E67}"/>
              </a:ext>
            </a:extLst>
          </p:cNvPr>
          <p:cNvSpPr/>
          <p:nvPr/>
        </p:nvSpPr>
        <p:spPr>
          <a:xfrm>
            <a:off x="5676792" y="3769995"/>
            <a:ext cx="2123661" cy="488415"/>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DEPARTMENT N</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16" name="Arrow: Right 15">
            <a:extLst>
              <a:ext uri="{FF2B5EF4-FFF2-40B4-BE49-F238E27FC236}">
                <a16:creationId xmlns:a16="http://schemas.microsoft.com/office/drawing/2014/main" id="{9B8609AB-8456-4517-4DD3-855FA5C5B89D}"/>
              </a:ext>
            </a:extLst>
          </p:cNvPr>
          <p:cNvSpPr/>
          <p:nvPr/>
        </p:nvSpPr>
        <p:spPr>
          <a:xfrm rot="1747099">
            <a:off x="7828180" y="2683394"/>
            <a:ext cx="553766" cy="257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Arrow: Right 16">
            <a:extLst>
              <a:ext uri="{FF2B5EF4-FFF2-40B4-BE49-F238E27FC236}">
                <a16:creationId xmlns:a16="http://schemas.microsoft.com/office/drawing/2014/main" id="{6D9CD94A-655B-A0FA-4BF7-54348CB2C6CF}"/>
              </a:ext>
            </a:extLst>
          </p:cNvPr>
          <p:cNvSpPr/>
          <p:nvPr/>
        </p:nvSpPr>
        <p:spPr>
          <a:xfrm rot="19884434">
            <a:off x="7832149" y="3714071"/>
            <a:ext cx="553766" cy="257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Arrow: Right 17">
            <a:extLst>
              <a:ext uri="{FF2B5EF4-FFF2-40B4-BE49-F238E27FC236}">
                <a16:creationId xmlns:a16="http://schemas.microsoft.com/office/drawing/2014/main" id="{C6CBD79E-E889-D471-D32B-F00D9A0BDAB4}"/>
              </a:ext>
            </a:extLst>
          </p:cNvPr>
          <p:cNvSpPr/>
          <p:nvPr/>
        </p:nvSpPr>
        <p:spPr>
          <a:xfrm>
            <a:off x="7829097" y="3220130"/>
            <a:ext cx="553766" cy="257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E03AA58A-EC38-B7A6-BDDD-406A3D5AD2B5}"/>
              </a:ext>
            </a:extLst>
          </p:cNvPr>
          <p:cNvSpPr/>
          <p:nvPr/>
        </p:nvSpPr>
        <p:spPr>
          <a:xfrm>
            <a:off x="8402872" y="1876425"/>
            <a:ext cx="1607173" cy="2095953"/>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Global Model </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Aggregation </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 </a:t>
            </a:r>
            <a:r>
              <a:rPr lang="en-US" b="1" dirty="0" err="1">
                <a:solidFill>
                  <a:schemeClr val="tx1"/>
                </a:solidFill>
                <a:latin typeface="Times New Roman" panose="02020603050405020304" pitchFamily="18" charset="0"/>
                <a:cs typeface="Times New Roman" panose="02020603050405020304" pitchFamily="18" charset="0"/>
              </a:rPr>
              <a:t>FedAvg</a:t>
            </a:r>
            <a:r>
              <a:rPr lang="en-US" b="1" dirty="0">
                <a:solidFill>
                  <a:schemeClr val="tx1"/>
                </a:solidFill>
                <a:latin typeface="Times New Roman" panose="02020603050405020304" pitchFamily="18" charset="0"/>
                <a:cs typeface="Times New Roman" panose="02020603050405020304" pitchFamily="18" charset="0"/>
              </a:rPr>
              <a:t>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0" name="Arrow: Right 19">
            <a:extLst>
              <a:ext uri="{FF2B5EF4-FFF2-40B4-BE49-F238E27FC236}">
                <a16:creationId xmlns:a16="http://schemas.microsoft.com/office/drawing/2014/main" id="{9173461F-2C01-E9CC-A347-682F37A9F8F3}"/>
              </a:ext>
            </a:extLst>
          </p:cNvPr>
          <p:cNvSpPr/>
          <p:nvPr/>
        </p:nvSpPr>
        <p:spPr>
          <a:xfrm rot="5400000">
            <a:off x="8803417" y="4120368"/>
            <a:ext cx="553766" cy="257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D83A519F-87A8-1404-45DC-EABBFAC116AF}"/>
              </a:ext>
            </a:extLst>
          </p:cNvPr>
          <p:cNvSpPr/>
          <p:nvPr/>
        </p:nvSpPr>
        <p:spPr>
          <a:xfrm>
            <a:off x="8402872" y="4526143"/>
            <a:ext cx="1607173" cy="1922281"/>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Job – Student</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Matching </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 Graph Neural Networks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2" name="Arrow: Right 21">
            <a:extLst>
              <a:ext uri="{FF2B5EF4-FFF2-40B4-BE49-F238E27FC236}">
                <a16:creationId xmlns:a16="http://schemas.microsoft.com/office/drawing/2014/main" id="{FE3EC175-72E1-87A0-99D8-8D67B8BD1F3A}"/>
              </a:ext>
            </a:extLst>
          </p:cNvPr>
          <p:cNvSpPr/>
          <p:nvPr/>
        </p:nvSpPr>
        <p:spPr>
          <a:xfrm rot="10800000">
            <a:off x="7829097" y="5261315"/>
            <a:ext cx="553766" cy="257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79110110-294B-71C5-A7D2-04121D0901FD}"/>
              </a:ext>
            </a:extLst>
          </p:cNvPr>
          <p:cNvSpPr/>
          <p:nvPr/>
        </p:nvSpPr>
        <p:spPr>
          <a:xfrm>
            <a:off x="6377849" y="4953401"/>
            <a:ext cx="1422604" cy="1059792"/>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solidFill>
                  <a:schemeClr val="tx1"/>
                </a:solidFill>
                <a:latin typeface="Times New Roman" panose="02020603050405020304" pitchFamily="18" charset="0"/>
                <a:cs typeface="Times New Roman" panose="02020603050405020304" pitchFamily="18" charset="0"/>
              </a:rPr>
              <a:t>Explanable</a:t>
            </a:r>
            <a:r>
              <a:rPr lang="en-US" b="1" dirty="0">
                <a:solidFill>
                  <a:schemeClr val="tx1"/>
                </a:solidFill>
                <a:latin typeface="Times New Roman" panose="02020603050405020304" pitchFamily="18" charset="0"/>
                <a:cs typeface="Times New Roman" panose="02020603050405020304" pitchFamily="18" charset="0"/>
              </a:rPr>
              <a:t> AI</a:t>
            </a: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 SHAP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4" name="Arrow: Right 23">
            <a:extLst>
              <a:ext uri="{FF2B5EF4-FFF2-40B4-BE49-F238E27FC236}">
                <a16:creationId xmlns:a16="http://schemas.microsoft.com/office/drawing/2014/main" id="{A21388E5-40DB-643F-CB2B-D21059635561}"/>
              </a:ext>
            </a:extLst>
          </p:cNvPr>
          <p:cNvSpPr/>
          <p:nvPr/>
        </p:nvSpPr>
        <p:spPr>
          <a:xfrm rot="10800000">
            <a:off x="5787722" y="5308959"/>
            <a:ext cx="553766" cy="257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A723A38E-F907-1405-CDB6-BCF2D2C36250}"/>
              </a:ext>
            </a:extLst>
          </p:cNvPr>
          <p:cNvSpPr/>
          <p:nvPr/>
        </p:nvSpPr>
        <p:spPr>
          <a:xfrm>
            <a:off x="4029120" y="4885374"/>
            <a:ext cx="1758602" cy="1678004"/>
          </a:xfrm>
          <a:prstGeom prst="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Skill Gap Analysis &amp; Learning Recommendations</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6" name="Arrow: Right 25">
            <a:extLst>
              <a:ext uri="{FF2B5EF4-FFF2-40B4-BE49-F238E27FC236}">
                <a16:creationId xmlns:a16="http://schemas.microsoft.com/office/drawing/2014/main" id="{E1F9C172-ED68-2221-7B32-AB0F8512F0A2}"/>
              </a:ext>
            </a:extLst>
          </p:cNvPr>
          <p:cNvSpPr/>
          <p:nvPr/>
        </p:nvSpPr>
        <p:spPr>
          <a:xfrm rot="10800000">
            <a:off x="3416243" y="5308959"/>
            <a:ext cx="553766" cy="257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2971F98B-B3D6-E641-6BD2-F9FB5C4C40EF}"/>
              </a:ext>
            </a:extLst>
          </p:cNvPr>
          <p:cNvSpPr/>
          <p:nvPr/>
        </p:nvSpPr>
        <p:spPr>
          <a:xfrm>
            <a:off x="1036157" y="4163333"/>
            <a:ext cx="2440347" cy="2400045"/>
          </a:xfrm>
          <a:prstGeom prst="rect">
            <a:avLst/>
          </a:prstGeom>
          <a:ln w="38100"/>
        </p:spPr>
        <p:style>
          <a:lnRef idx="2">
            <a:schemeClr val="dk1"/>
          </a:lnRef>
          <a:fillRef idx="1">
            <a:schemeClr val="lt1"/>
          </a:fillRef>
          <a:effectRef idx="0">
            <a:schemeClr val="dk1"/>
          </a:effectRef>
          <a:fontRef idx="minor">
            <a:schemeClr val="dk1"/>
          </a:fontRef>
        </p:style>
        <p:txBody>
          <a:bodyPr rtlCol="0" anchor="t"/>
          <a:lstStyle/>
          <a:p>
            <a:pPr algn="ctr"/>
            <a:br>
              <a:rPr lang="en-US" b="1" dirty="0">
                <a:solidFill>
                  <a:schemeClr val="tx1"/>
                </a:solidFill>
                <a:latin typeface="Times New Roman" panose="02020603050405020304" pitchFamily="18" charset="0"/>
                <a:cs typeface="Times New Roman" panose="02020603050405020304" pitchFamily="18" charset="0"/>
              </a:rPr>
            </a:br>
            <a:r>
              <a:rPr lang="en-US" b="1" dirty="0">
                <a:solidFill>
                  <a:schemeClr val="tx1"/>
                </a:solidFill>
                <a:latin typeface="Times New Roman" panose="02020603050405020304" pitchFamily="18" charset="0"/>
                <a:cs typeface="Times New Roman" panose="02020603050405020304" pitchFamily="18" charset="0"/>
              </a:rPr>
              <a:t>Results and Notifications</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E7583D04-8C10-DDCC-1795-96F06B9395C7}"/>
              </a:ext>
            </a:extLst>
          </p:cNvPr>
          <p:cNvSpPr/>
          <p:nvPr/>
        </p:nvSpPr>
        <p:spPr>
          <a:xfrm>
            <a:off x="1248362" y="5144356"/>
            <a:ext cx="1045325" cy="1059792"/>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Student Portal</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29" name="Rectangle 28">
            <a:extLst>
              <a:ext uri="{FF2B5EF4-FFF2-40B4-BE49-F238E27FC236}">
                <a16:creationId xmlns:a16="http://schemas.microsoft.com/office/drawing/2014/main" id="{E78EE3E4-45AA-3F92-0427-CB61E0A184B3}"/>
              </a:ext>
            </a:extLst>
          </p:cNvPr>
          <p:cNvSpPr/>
          <p:nvPr/>
        </p:nvSpPr>
        <p:spPr>
          <a:xfrm>
            <a:off x="2432773" y="5194480"/>
            <a:ext cx="887934" cy="1059792"/>
          </a:xfrm>
          <a:prstGeom prst="rect">
            <a:avLst/>
          </a:prstGeom>
          <a:ln w="57150"/>
        </p:spPr>
        <p:style>
          <a:lnRef idx="2">
            <a:schemeClr val="dk1"/>
          </a:lnRef>
          <a:fillRef idx="1">
            <a:schemeClr val="lt1"/>
          </a:fillRef>
          <a:effectRef idx="0">
            <a:schemeClr val="dk1"/>
          </a:effectRef>
          <a:fontRef idx="minor">
            <a:schemeClr val="dk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Admin Portal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E6B27110-7075-C3B6-9B8E-3C5922E2A99D}"/>
              </a:ext>
            </a:extLst>
          </p:cNvPr>
          <p:cNvSpPr txBox="1"/>
          <p:nvPr/>
        </p:nvSpPr>
        <p:spPr>
          <a:xfrm flipH="1">
            <a:off x="4118440" y="409495"/>
            <a:ext cx="2452839" cy="400110"/>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BLOCK DIAGRAM</a:t>
            </a:r>
            <a:endParaRPr lang="en-IN" sz="2000" b="1" dirty="0">
              <a:latin typeface="Times New Roman" panose="02020603050405020304" pitchFamily="18" charset="0"/>
              <a:cs typeface="Times New Roman" panose="02020603050405020304" pitchFamily="18" charset="0"/>
            </a:endParaRPr>
          </a:p>
        </p:txBody>
      </p:sp>
      <p:pic>
        <p:nvPicPr>
          <p:cNvPr id="31" name="object 3">
            <a:extLst>
              <a:ext uri="{FF2B5EF4-FFF2-40B4-BE49-F238E27FC236}">
                <a16:creationId xmlns:a16="http://schemas.microsoft.com/office/drawing/2014/main" id="{7349F37E-65DD-4BF5-D0E9-88F89BB43B72}"/>
              </a:ext>
            </a:extLst>
          </p:cNvPr>
          <p:cNvPicPr/>
          <p:nvPr/>
        </p:nvPicPr>
        <p:blipFill>
          <a:blip r:embed="rId2" cstate="print"/>
          <a:stretch>
            <a:fillRect/>
          </a:stretch>
        </p:blipFill>
        <p:spPr>
          <a:xfrm>
            <a:off x="229716" y="37532"/>
            <a:ext cx="1154124" cy="985890"/>
          </a:xfrm>
          <a:prstGeom prst="rect">
            <a:avLst/>
          </a:prstGeom>
        </p:spPr>
      </p:pic>
      <p:sp>
        <p:nvSpPr>
          <p:cNvPr id="2" name="object 6">
            <a:extLst>
              <a:ext uri="{FF2B5EF4-FFF2-40B4-BE49-F238E27FC236}">
                <a16:creationId xmlns:a16="http://schemas.microsoft.com/office/drawing/2014/main" id="{878259F4-7884-59DB-B463-6126A94A2DFA}"/>
              </a:ext>
            </a:extLst>
          </p:cNvPr>
          <p:cNvSpPr txBox="1"/>
          <p:nvPr/>
        </p:nvSpPr>
        <p:spPr>
          <a:xfrm>
            <a:off x="4693350" y="7143391"/>
            <a:ext cx="1303020" cy="141064"/>
          </a:xfrm>
          <a:prstGeom prst="rect">
            <a:avLst/>
          </a:prstGeom>
        </p:spPr>
        <p:txBody>
          <a:bodyPr vert="horz" wrap="square" lIns="0" tIns="0" rIns="0" bIns="0" rtlCol="0">
            <a:spAutoFit/>
          </a:bodyPr>
          <a:lstStyle/>
          <a:p>
            <a:pPr marL="12700">
              <a:lnSpc>
                <a:spcPts val="1050"/>
              </a:lnSpc>
              <a:tabLst>
                <a:tab pos="589280" algn="l"/>
              </a:tabLst>
            </a:pPr>
            <a:r>
              <a:rPr sz="1000" dirty="0">
                <a:solidFill>
                  <a:srgbClr val="898989"/>
                </a:solidFill>
                <a:latin typeface="Calibri"/>
                <a:cs typeface="Calibri"/>
              </a:rPr>
              <a:t>IV</a:t>
            </a:r>
            <a:r>
              <a:rPr sz="1000" spc="-15" dirty="0">
                <a:solidFill>
                  <a:srgbClr val="898989"/>
                </a:solidFill>
                <a:latin typeface="Calibri"/>
                <a:cs typeface="Calibri"/>
              </a:rPr>
              <a:t> </a:t>
            </a:r>
            <a:r>
              <a:rPr sz="1000" spc="-10" dirty="0">
                <a:solidFill>
                  <a:srgbClr val="898989"/>
                </a:solidFill>
                <a:latin typeface="Calibri"/>
                <a:cs typeface="Calibri"/>
              </a:rPr>
              <a:t>ECE-</a:t>
            </a:r>
            <a:r>
              <a:rPr lang="en-US" sz="1000" spc="-60" dirty="0">
                <a:solidFill>
                  <a:srgbClr val="898989"/>
                </a:solidFill>
                <a:latin typeface="Calibri"/>
                <a:cs typeface="Calibri"/>
              </a:rPr>
              <a:t>C</a:t>
            </a:r>
            <a:r>
              <a:rPr sz="1000" dirty="0">
                <a:solidFill>
                  <a:srgbClr val="898989"/>
                </a:solidFill>
                <a:latin typeface="Calibri"/>
                <a:cs typeface="Calibri"/>
              </a:rPr>
              <a:t>	BATCH</a:t>
            </a:r>
            <a:r>
              <a:rPr sz="1000" spc="-55" dirty="0">
                <a:solidFill>
                  <a:srgbClr val="898989"/>
                </a:solidFill>
                <a:latin typeface="Calibri"/>
                <a:cs typeface="Calibri"/>
              </a:rPr>
              <a:t> </a:t>
            </a:r>
            <a:r>
              <a:rPr sz="1000" spc="-20" dirty="0">
                <a:solidFill>
                  <a:srgbClr val="898989"/>
                </a:solidFill>
                <a:latin typeface="Calibri"/>
                <a:cs typeface="Calibri"/>
              </a:rPr>
              <a:t>NO.2</a:t>
            </a:r>
            <a:endParaRPr sz="1000" dirty="0">
              <a:latin typeface="Calibri"/>
              <a:cs typeface="Calibri"/>
            </a:endParaRPr>
          </a:p>
        </p:txBody>
      </p:sp>
      <p:sp>
        <p:nvSpPr>
          <p:cNvPr id="11" name="object 7"/>
          <p:cNvSpPr txBox="1"/>
          <p:nvPr/>
        </p:nvSpPr>
        <p:spPr>
          <a:xfrm>
            <a:off x="9450958" y="7143390"/>
            <a:ext cx="467742" cy="141064"/>
          </a:xfrm>
          <a:prstGeom prst="rect">
            <a:avLst/>
          </a:prstGeom>
        </p:spPr>
        <p:txBody>
          <a:bodyPr vert="horz" wrap="square" lIns="0" tIns="0" rIns="0" bIns="0" rtlCol="0">
            <a:spAutoFit/>
          </a:bodyPr>
          <a:lstStyle/>
          <a:p>
            <a:pPr marL="12700">
              <a:lnSpc>
                <a:spcPts val="1050"/>
              </a:lnSpc>
            </a:pPr>
            <a:r>
              <a:rPr sz="1000" spc="-25" dirty="0">
                <a:solidFill>
                  <a:srgbClr val="898989"/>
                </a:solidFill>
                <a:latin typeface="Calibri"/>
                <a:cs typeface="Calibri"/>
              </a:rPr>
              <a:t>10</a:t>
            </a:r>
            <a:endParaRPr sz="1000" dirty="0">
              <a:latin typeface="Calibri"/>
              <a:cs typeface="Calibri"/>
            </a:endParaRPr>
          </a:p>
        </p:txBody>
      </p:sp>
      <p:sp>
        <p:nvSpPr>
          <p:cNvPr id="1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dirty="0">
              <a:latin typeface="Times New Roman"/>
              <a:cs typeface="Times New Roman"/>
            </a:endParaRPr>
          </a:p>
        </p:txBody>
      </p:sp>
    </p:spTree>
    <p:extLst>
      <p:ext uri="{BB962C8B-B14F-4D97-AF65-F5344CB8AC3E}">
        <p14:creationId xmlns:p14="http://schemas.microsoft.com/office/powerpoint/2010/main" val="2526408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xfrm>
            <a:off x="1384300" y="541223"/>
            <a:ext cx="7564056" cy="789913"/>
          </a:xfrm>
          <a:prstGeom prst="rect">
            <a:avLst/>
          </a:prstGeom>
        </p:spPr>
        <p:txBody>
          <a:bodyPr vert="horz" wrap="square" lIns="0" tIns="172674" rIns="0" bIns="0" rtlCol="0">
            <a:spAutoFit/>
          </a:bodyPr>
          <a:lstStyle/>
          <a:p>
            <a:pPr marL="1297305">
              <a:lnSpc>
                <a:spcPct val="100000"/>
              </a:lnSpc>
              <a:spcBef>
                <a:spcPts val="120"/>
              </a:spcBef>
            </a:pPr>
            <a:r>
              <a:rPr lang="en-US" sz="4000" b="1" dirty="0">
                <a:solidFill>
                  <a:srgbClr val="000000"/>
                </a:solidFill>
                <a:latin typeface="Times New Roman" panose="02020603050405020304" pitchFamily="18" charset="0"/>
                <a:ea typeface="Calibri (MS) Bold"/>
                <a:cs typeface="Times New Roman" panose="02020603050405020304" pitchFamily="18" charset="0"/>
                <a:sym typeface="Calibri (MS) Bold"/>
              </a:rPr>
              <a:t>FEASIBILITY ANALYSIS</a:t>
            </a:r>
            <a:endParaRPr sz="3950" b="1" dirty="0"/>
          </a:p>
        </p:txBody>
      </p:sp>
      <p:sp>
        <p:nvSpPr>
          <p:cNvPr id="6" name="object 6"/>
          <p:cNvSpPr txBox="1">
            <a:spLocks noGrp="1"/>
          </p:cNvSpPr>
          <p:nvPr>
            <p:ph type="ftr" sz="quarter" idx="5"/>
          </p:nvPr>
        </p:nvSpPr>
        <p:spPr>
          <a:xfrm>
            <a:off x="4693350" y="7143391"/>
            <a:ext cx="1303656" cy="141064"/>
          </a:xfrm>
          <a:prstGeom prst="rect">
            <a:avLst/>
          </a:prstGeom>
        </p:spPr>
        <p:txBody>
          <a:bodyPr vert="horz" wrap="square" lIns="0" tIns="0" rIns="0" bIns="0" rtlCol="0">
            <a:spAutoFit/>
          </a:bodyPr>
          <a:lstStyle/>
          <a:p>
            <a:pPr marL="26034">
              <a:lnSpc>
                <a:spcPts val="1050"/>
              </a:lnSpc>
            </a:pPr>
            <a:r>
              <a:rPr dirty="0"/>
              <a:t>IV </a:t>
            </a:r>
            <a:r>
              <a:rPr spc="-20" dirty="0"/>
              <a:t>ECE-</a:t>
            </a:r>
            <a:r>
              <a:rPr lang="en-US" spc="-20" dirty="0"/>
              <a:t>C</a:t>
            </a:r>
            <a:r>
              <a:rPr spc="215" dirty="0"/>
              <a:t>  </a:t>
            </a:r>
            <a:r>
              <a:rPr dirty="0"/>
              <a:t>BATCH</a:t>
            </a:r>
            <a:r>
              <a:rPr spc="-5" dirty="0"/>
              <a:t> </a:t>
            </a:r>
            <a:r>
              <a:rPr spc="-20" dirty="0"/>
              <a:t>NO.2</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050"/>
              </a:lnSpc>
            </a:pPr>
            <a:r>
              <a:rPr spc="-25" dirty="0"/>
              <a:t>11</a:t>
            </a:r>
          </a:p>
        </p:txBody>
      </p:sp>
      <p:sp>
        <p:nvSpPr>
          <p:cNvPr id="5" name="object 5"/>
          <p:cNvSpPr txBox="1"/>
          <p:nvPr/>
        </p:nvSpPr>
        <p:spPr>
          <a:xfrm>
            <a:off x="1084631" y="1553513"/>
            <a:ext cx="8521700" cy="5660524"/>
          </a:xfrm>
          <a:prstGeom prst="rect">
            <a:avLst/>
          </a:prstGeom>
        </p:spPr>
        <p:txBody>
          <a:bodyPr vert="horz" wrap="square" lIns="0" tIns="180340" rIns="0" bIns="0" rtlCol="0">
            <a:spAutoFit/>
          </a:bodyPr>
          <a:lstStyle/>
          <a:p>
            <a:pPr marL="0" indent="0">
              <a:buNone/>
            </a:pPr>
            <a:r>
              <a:rPr lang="en-US" sz="2400" b="1" dirty="0">
                <a:latin typeface="Times New Roman" panose="02020603050405020304" pitchFamily="18" charset="0"/>
                <a:cs typeface="Times New Roman" panose="02020603050405020304" pitchFamily="18" charset="0"/>
              </a:rPr>
              <a:t>Technical Feasibility: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Achievable using existing AI technologies like Federated Learning, GNNs, NLP, and Explainable AI.</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Economic Feasibility: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Cost-effective implementation using open-source tools such as Python, TensorFlow, Flask, and React.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Operational Feasibility: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User-friendly web-based system requiring minimal training for users</a:t>
            </a:r>
            <a:r>
              <a:rPr lang="en-US" sz="2000"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400" b="1" dirty="0">
                <a:latin typeface="Times New Roman" panose="02020603050405020304" pitchFamily="18" charset="0"/>
                <a:cs typeface="Times New Roman" panose="02020603050405020304" pitchFamily="18" charset="0"/>
              </a:rPr>
              <a:t>Legal Feasibility:</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Ensures data privacy and transparency, complying with ethical and privacy standards</a:t>
            </a:r>
            <a:r>
              <a:rPr lang="en-US" sz="2000" dirty="0">
                <a:latin typeface="Times New Roman" panose="02020603050405020304" pitchFamily="18" charset="0"/>
                <a:cs typeface="Times New Roman" panose="02020603050405020304" pitchFamily="18" charset="0"/>
              </a:rPr>
              <a:t>.</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prstGeom prst="rect">
            <a:avLst/>
          </a:prstGeom>
        </p:spPr>
        <p:txBody>
          <a:bodyPr vert="horz" wrap="square" lIns="0" tIns="359840" rIns="0" bIns="0" rtlCol="0">
            <a:spAutoFit/>
          </a:bodyPr>
          <a:lstStyle/>
          <a:p>
            <a:pPr marL="12700">
              <a:lnSpc>
                <a:spcPct val="100000"/>
              </a:lnSpc>
              <a:spcBef>
                <a:spcPts val="130"/>
              </a:spcBef>
            </a:pPr>
            <a:r>
              <a:rPr b="1" spc="-50" dirty="0">
                <a:latin typeface="Times New Roman"/>
                <a:cs typeface="Times New Roman"/>
              </a:rPr>
              <a:t>MATHEMATICAL</a:t>
            </a:r>
            <a:r>
              <a:rPr b="1" spc="-125" dirty="0">
                <a:latin typeface="Times New Roman"/>
                <a:cs typeface="Times New Roman"/>
              </a:rPr>
              <a:t> </a:t>
            </a:r>
            <a:r>
              <a:rPr b="1" spc="-10" dirty="0">
                <a:latin typeface="Times New Roman"/>
                <a:cs typeface="Times New Roman"/>
              </a:rPr>
              <a:t>FORMULATION</a:t>
            </a:r>
          </a:p>
        </p:txBody>
      </p:sp>
      <p:sp>
        <p:nvSpPr>
          <p:cNvPr id="5" name="object 5"/>
          <p:cNvSpPr txBox="1"/>
          <p:nvPr/>
        </p:nvSpPr>
        <p:spPr>
          <a:xfrm>
            <a:off x="1084554" y="2001741"/>
            <a:ext cx="3343275" cy="1181100"/>
          </a:xfrm>
          <a:prstGeom prst="rect">
            <a:avLst/>
          </a:prstGeom>
        </p:spPr>
        <p:txBody>
          <a:bodyPr vert="horz" wrap="square" lIns="0" tIns="15875" rIns="0" bIns="0" rtlCol="0">
            <a:spAutoFit/>
          </a:bodyPr>
          <a:lstStyle/>
          <a:p>
            <a:pPr marL="12700">
              <a:lnSpc>
                <a:spcPct val="100000"/>
              </a:lnSpc>
              <a:spcBef>
                <a:spcPts val="125"/>
              </a:spcBef>
            </a:pPr>
            <a:r>
              <a:rPr sz="2400" dirty="0">
                <a:latin typeface="Times New Roman"/>
                <a:cs typeface="Times New Roman"/>
              </a:rPr>
              <a:t>Model</a:t>
            </a:r>
            <a:r>
              <a:rPr sz="2400" spc="70" dirty="0">
                <a:latin typeface="Times New Roman"/>
                <a:cs typeface="Times New Roman"/>
              </a:rPr>
              <a:t> </a:t>
            </a:r>
            <a:r>
              <a:rPr sz="2400" dirty="0">
                <a:latin typeface="Times New Roman"/>
                <a:cs typeface="Times New Roman"/>
              </a:rPr>
              <a:t>Evaluation</a:t>
            </a:r>
            <a:r>
              <a:rPr sz="2400" spc="70" dirty="0">
                <a:latin typeface="Times New Roman"/>
                <a:cs typeface="Times New Roman"/>
              </a:rPr>
              <a:t> </a:t>
            </a:r>
            <a:r>
              <a:rPr sz="2400" spc="-10" dirty="0">
                <a:latin typeface="Times New Roman"/>
                <a:cs typeface="Times New Roman"/>
              </a:rPr>
              <a:t>Metrics:</a:t>
            </a:r>
            <a:endParaRPr sz="2400">
              <a:latin typeface="Times New Roman"/>
              <a:cs typeface="Times New Roman"/>
            </a:endParaRPr>
          </a:p>
          <a:p>
            <a:pPr>
              <a:lnSpc>
                <a:spcPct val="100000"/>
              </a:lnSpc>
              <a:spcBef>
                <a:spcPts val="910"/>
              </a:spcBef>
            </a:pPr>
            <a:endParaRPr sz="2400">
              <a:latin typeface="Times New Roman"/>
              <a:cs typeface="Times New Roman"/>
            </a:endParaRPr>
          </a:p>
          <a:p>
            <a:pPr marL="201295" indent="-188595">
              <a:lnSpc>
                <a:spcPct val="100000"/>
              </a:lnSpc>
              <a:buFont typeface="Arial MT"/>
              <a:buChar char="•"/>
              <a:tabLst>
                <a:tab pos="201295" algn="l"/>
              </a:tabLst>
            </a:pPr>
            <a:r>
              <a:rPr sz="2100" b="1" spc="-10" dirty="0">
                <a:latin typeface="Times New Roman"/>
                <a:cs typeface="Times New Roman"/>
              </a:rPr>
              <a:t>Accuracy</a:t>
            </a:r>
            <a:r>
              <a:rPr sz="2100" spc="-10" dirty="0">
                <a:latin typeface="Times New Roman"/>
                <a:cs typeface="Times New Roman"/>
              </a:rPr>
              <a:t>:</a:t>
            </a:r>
            <a:endParaRPr sz="2100">
              <a:latin typeface="Times New Roman"/>
              <a:cs typeface="Times New Roman"/>
            </a:endParaRPr>
          </a:p>
        </p:txBody>
      </p:sp>
      <p:sp>
        <p:nvSpPr>
          <p:cNvPr id="6" name="object 6"/>
          <p:cNvSpPr txBox="1"/>
          <p:nvPr/>
        </p:nvSpPr>
        <p:spPr>
          <a:xfrm>
            <a:off x="3509293" y="3263881"/>
            <a:ext cx="1412240"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𝐴𝑐𝑐𝑢𝑟𝑎𝑐𝑦</a:t>
            </a:r>
            <a:r>
              <a:rPr sz="2100" spc="70" dirty="0">
                <a:latin typeface="Cambria Math"/>
                <a:cs typeface="Cambria Math"/>
              </a:rPr>
              <a:t> </a:t>
            </a:r>
            <a:r>
              <a:rPr sz="2100" spc="-50" dirty="0">
                <a:latin typeface="Cambria Math"/>
                <a:cs typeface="Cambria Math"/>
              </a:rPr>
              <a:t>=</a:t>
            </a:r>
            <a:endParaRPr sz="2100">
              <a:latin typeface="Cambria Math"/>
              <a:cs typeface="Cambria Math"/>
            </a:endParaRPr>
          </a:p>
        </p:txBody>
      </p:sp>
      <p:sp>
        <p:nvSpPr>
          <p:cNvPr id="7" name="object 7"/>
          <p:cNvSpPr txBox="1"/>
          <p:nvPr/>
        </p:nvSpPr>
        <p:spPr>
          <a:xfrm>
            <a:off x="5586432" y="3062628"/>
            <a:ext cx="977265"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𝑇𝑃</a:t>
            </a:r>
            <a:r>
              <a:rPr sz="2100" spc="5" dirty="0">
                <a:latin typeface="Cambria Math"/>
                <a:cs typeface="Cambria Math"/>
              </a:rPr>
              <a:t> </a:t>
            </a:r>
            <a:r>
              <a:rPr sz="2100" dirty="0">
                <a:latin typeface="Arial MT"/>
                <a:cs typeface="Arial MT"/>
              </a:rPr>
              <a:t>+</a:t>
            </a:r>
            <a:r>
              <a:rPr sz="2100" spc="-135" dirty="0">
                <a:latin typeface="Arial MT"/>
                <a:cs typeface="Arial MT"/>
              </a:rPr>
              <a:t> </a:t>
            </a:r>
            <a:r>
              <a:rPr sz="2100" spc="-25" dirty="0">
                <a:latin typeface="Cambria Math"/>
                <a:cs typeface="Cambria Math"/>
              </a:rPr>
              <a:t>𝑇𝑁</a:t>
            </a:r>
            <a:endParaRPr sz="2100">
              <a:latin typeface="Cambria Math"/>
              <a:cs typeface="Cambria Math"/>
            </a:endParaRPr>
          </a:p>
        </p:txBody>
      </p:sp>
      <p:sp>
        <p:nvSpPr>
          <p:cNvPr id="8" name="object 8"/>
          <p:cNvSpPr/>
          <p:nvPr/>
        </p:nvSpPr>
        <p:spPr>
          <a:xfrm>
            <a:off x="4983479" y="3459480"/>
            <a:ext cx="2184400" cy="18415"/>
          </a:xfrm>
          <a:custGeom>
            <a:avLst/>
            <a:gdLst/>
            <a:ahLst/>
            <a:cxnLst/>
            <a:rect l="l" t="t" r="r" b="b"/>
            <a:pathLst>
              <a:path w="2184400" h="18414">
                <a:moveTo>
                  <a:pt x="2183891" y="18287"/>
                </a:moveTo>
                <a:lnTo>
                  <a:pt x="0" y="18287"/>
                </a:lnTo>
                <a:lnTo>
                  <a:pt x="0" y="0"/>
                </a:lnTo>
                <a:lnTo>
                  <a:pt x="2183891" y="0"/>
                </a:lnTo>
                <a:lnTo>
                  <a:pt x="2183891" y="18287"/>
                </a:lnTo>
                <a:close/>
              </a:path>
            </a:pathLst>
          </a:custGeom>
          <a:solidFill>
            <a:srgbClr val="000000"/>
          </a:solidFill>
        </p:spPr>
        <p:txBody>
          <a:bodyPr wrap="square" lIns="0" tIns="0" rIns="0" bIns="0" rtlCol="0"/>
          <a:lstStyle/>
          <a:p>
            <a:endParaRPr/>
          </a:p>
        </p:txBody>
      </p:sp>
      <p:sp>
        <p:nvSpPr>
          <p:cNvPr id="9" name="object 9"/>
          <p:cNvSpPr txBox="1"/>
          <p:nvPr/>
        </p:nvSpPr>
        <p:spPr>
          <a:xfrm>
            <a:off x="4969256" y="3442078"/>
            <a:ext cx="2212975"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𝑇𝑃 </a:t>
            </a:r>
            <a:r>
              <a:rPr sz="2100" dirty="0">
                <a:latin typeface="Arial MT"/>
                <a:cs typeface="Arial MT"/>
              </a:rPr>
              <a:t>+</a:t>
            </a:r>
            <a:r>
              <a:rPr sz="2100" spc="-130" dirty="0">
                <a:latin typeface="Arial MT"/>
                <a:cs typeface="Arial MT"/>
              </a:rPr>
              <a:t> </a:t>
            </a:r>
            <a:r>
              <a:rPr sz="2100" dirty="0">
                <a:latin typeface="Cambria Math"/>
                <a:cs typeface="Cambria Math"/>
              </a:rPr>
              <a:t>𝑇𝑁</a:t>
            </a:r>
            <a:r>
              <a:rPr sz="2100" spc="-15" dirty="0">
                <a:latin typeface="Cambria Math"/>
                <a:cs typeface="Cambria Math"/>
              </a:rPr>
              <a:t> </a:t>
            </a:r>
            <a:r>
              <a:rPr sz="2100" dirty="0">
                <a:latin typeface="Arial MT"/>
                <a:cs typeface="Arial MT"/>
              </a:rPr>
              <a:t>+</a:t>
            </a:r>
            <a:r>
              <a:rPr sz="2100" spc="-120" dirty="0">
                <a:latin typeface="Arial MT"/>
                <a:cs typeface="Arial MT"/>
              </a:rPr>
              <a:t> </a:t>
            </a:r>
            <a:r>
              <a:rPr sz="2100" dirty="0">
                <a:latin typeface="Cambria Math"/>
                <a:cs typeface="Cambria Math"/>
              </a:rPr>
              <a:t>𝐹𝑃</a:t>
            </a:r>
            <a:r>
              <a:rPr sz="2100" spc="-10" dirty="0">
                <a:latin typeface="Cambria Math"/>
                <a:cs typeface="Cambria Math"/>
              </a:rPr>
              <a:t> </a:t>
            </a:r>
            <a:r>
              <a:rPr sz="2100" dirty="0">
                <a:latin typeface="Arial MT"/>
                <a:cs typeface="Arial MT"/>
              </a:rPr>
              <a:t>+</a:t>
            </a:r>
            <a:r>
              <a:rPr sz="2100" spc="-130" dirty="0">
                <a:latin typeface="Arial MT"/>
                <a:cs typeface="Arial MT"/>
              </a:rPr>
              <a:t> </a:t>
            </a:r>
            <a:r>
              <a:rPr sz="2100" spc="-25" dirty="0">
                <a:latin typeface="Cambria Math"/>
                <a:cs typeface="Cambria Math"/>
              </a:rPr>
              <a:t>𝐹𝑁</a:t>
            </a:r>
            <a:endParaRPr sz="2100">
              <a:latin typeface="Cambria Math"/>
              <a:cs typeface="Cambria Math"/>
            </a:endParaRPr>
          </a:p>
        </p:txBody>
      </p:sp>
      <p:sp>
        <p:nvSpPr>
          <p:cNvPr id="10" name="object 10"/>
          <p:cNvSpPr txBox="1"/>
          <p:nvPr/>
        </p:nvSpPr>
        <p:spPr>
          <a:xfrm>
            <a:off x="1084617" y="3760696"/>
            <a:ext cx="1334135" cy="346075"/>
          </a:xfrm>
          <a:prstGeom prst="rect">
            <a:avLst/>
          </a:prstGeom>
        </p:spPr>
        <p:txBody>
          <a:bodyPr vert="horz" wrap="square" lIns="0" tIns="12700" rIns="0" bIns="0" rtlCol="0">
            <a:spAutoFit/>
          </a:bodyPr>
          <a:lstStyle/>
          <a:p>
            <a:pPr marL="201295" indent="-188595">
              <a:lnSpc>
                <a:spcPct val="100000"/>
              </a:lnSpc>
              <a:spcBef>
                <a:spcPts val="100"/>
              </a:spcBef>
              <a:buFont typeface="Arial MT"/>
              <a:buChar char="•"/>
              <a:tabLst>
                <a:tab pos="201295" algn="l"/>
              </a:tabLst>
            </a:pPr>
            <a:r>
              <a:rPr sz="2100" b="1" spc="-10" dirty="0">
                <a:latin typeface="Times New Roman"/>
                <a:cs typeface="Times New Roman"/>
              </a:rPr>
              <a:t>Precision</a:t>
            </a:r>
            <a:r>
              <a:rPr sz="2100" spc="-10" dirty="0">
                <a:latin typeface="Times New Roman"/>
                <a:cs typeface="Times New Roman"/>
              </a:rPr>
              <a:t>:</a:t>
            </a:r>
            <a:endParaRPr sz="2100">
              <a:latin typeface="Times New Roman"/>
              <a:cs typeface="Times New Roman"/>
            </a:endParaRPr>
          </a:p>
        </p:txBody>
      </p:sp>
      <p:sp>
        <p:nvSpPr>
          <p:cNvPr id="11" name="object 11"/>
          <p:cNvSpPr txBox="1"/>
          <p:nvPr/>
        </p:nvSpPr>
        <p:spPr>
          <a:xfrm>
            <a:off x="4129595" y="4187431"/>
            <a:ext cx="1430655"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𝑃𝑟𝑒𝑐𝑖𝑠𝑖𝑜𝑛</a:t>
            </a:r>
            <a:r>
              <a:rPr sz="2100" spc="50" dirty="0">
                <a:latin typeface="Cambria Math"/>
                <a:cs typeface="Cambria Math"/>
              </a:rPr>
              <a:t> </a:t>
            </a:r>
            <a:r>
              <a:rPr sz="2100" spc="-50" dirty="0">
                <a:latin typeface="Cambria Math"/>
                <a:cs typeface="Cambria Math"/>
              </a:rPr>
              <a:t>=</a:t>
            </a:r>
            <a:endParaRPr sz="2100">
              <a:latin typeface="Cambria Math"/>
              <a:cs typeface="Cambria Math"/>
            </a:endParaRPr>
          </a:p>
        </p:txBody>
      </p:sp>
      <p:sp>
        <p:nvSpPr>
          <p:cNvPr id="12" name="object 12"/>
          <p:cNvSpPr txBox="1"/>
          <p:nvPr/>
        </p:nvSpPr>
        <p:spPr>
          <a:xfrm>
            <a:off x="5909609" y="3986178"/>
            <a:ext cx="348615" cy="346075"/>
          </a:xfrm>
          <a:prstGeom prst="rect">
            <a:avLst/>
          </a:prstGeom>
        </p:spPr>
        <p:txBody>
          <a:bodyPr vert="horz" wrap="square" lIns="0" tIns="12700" rIns="0" bIns="0" rtlCol="0">
            <a:spAutoFit/>
          </a:bodyPr>
          <a:lstStyle/>
          <a:p>
            <a:pPr marL="12700">
              <a:lnSpc>
                <a:spcPct val="100000"/>
              </a:lnSpc>
              <a:spcBef>
                <a:spcPts val="100"/>
              </a:spcBef>
            </a:pPr>
            <a:r>
              <a:rPr sz="2100" spc="-25" dirty="0">
                <a:latin typeface="Cambria Math"/>
                <a:cs typeface="Cambria Math"/>
              </a:rPr>
              <a:t>𝑇𝑃</a:t>
            </a:r>
            <a:endParaRPr sz="2100">
              <a:latin typeface="Cambria Math"/>
              <a:cs typeface="Cambria Math"/>
            </a:endParaRPr>
          </a:p>
        </p:txBody>
      </p:sp>
      <p:sp>
        <p:nvSpPr>
          <p:cNvPr id="13" name="object 13"/>
          <p:cNvSpPr/>
          <p:nvPr/>
        </p:nvSpPr>
        <p:spPr>
          <a:xfrm>
            <a:off x="5622035" y="4383023"/>
            <a:ext cx="925194" cy="18415"/>
          </a:xfrm>
          <a:custGeom>
            <a:avLst/>
            <a:gdLst/>
            <a:ahLst/>
            <a:cxnLst/>
            <a:rect l="l" t="t" r="r" b="b"/>
            <a:pathLst>
              <a:path w="925195" h="18414">
                <a:moveTo>
                  <a:pt x="925067" y="18287"/>
                </a:moveTo>
                <a:lnTo>
                  <a:pt x="0" y="18287"/>
                </a:lnTo>
                <a:lnTo>
                  <a:pt x="0" y="0"/>
                </a:lnTo>
                <a:lnTo>
                  <a:pt x="925067" y="0"/>
                </a:lnTo>
                <a:lnTo>
                  <a:pt x="925067" y="18287"/>
                </a:lnTo>
                <a:close/>
              </a:path>
            </a:pathLst>
          </a:custGeom>
          <a:solidFill>
            <a:srgbClr val="000000"/>
          </a:solidFill>
        </p:spPr>
        <p:txBody>
          <a:bodyPr wrap="square" lIns="0" tIns="0" rIns="0" bIns="0" rtlCol="0"/>
          <a:lstStyle/>
          <a:p>
            <a:endParaRPr/>
          </a:p>
        </p:txBody>
      </p:sp>
      <p:sp>
        <p:nvSpPr>
          <p:cNvPr id="14" name="object 14"/>
          <p:cNvSpPr txBox="1"/>
          <p:nvPr/>
        </p:nvSpPr>
        <p:spPr>
          <a:xfrm>
            <a:off x="5609358" y="4365628"/>
            <a:ext cx="951230"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𝑇𝑃</a:t>
            </a:r>
            <a:r>
              <a:rPr sz="2100" spc="-10" dirty="0">
                <a:latin typeface="Cambria Math"/>
                <a:cs typeface="Cambria Math"/>
              </a:rPr>
              <a:t> </a:t>
            </a:r>
            <a:r>
              <a:rPr sz="2100" dirty="0">
                <a:latin typeface="Arial MT"/>
                <a:cs typeface="Arial MT"/>
              </a:rPr>
              <a:t>+</a:t>
            </a:r>
            <a:r>
              <a:rPr sz="2100" spc="-135" dirty="0">
                <a:latin typeface="Arial MT"/>
                <a:cs typeface="Arial MT"/>
              </a:rPr>
              <a:t> </a:t>
            </a:r>
            <a:r>
              <a:rPr sz="2100" spc="-35" dirty="0">
                <a:latin typeface="Cambria Math"/>
                <a:cs typeface="Cambria Math"/>
              </a:rPr>
              <a:t>𝐹𝑃</a:t>
            </a:r>
            <a:endParaRPr sz="2100">
              <a:latin typeface="Cambria Math"/>
              <a:cs typeface="Cambria Math"/>
            </a:endParaRPr>
          </a:p>
        </p:txBody>
      </p:sp>
      <p:sp>
        <p:nvSpPr>
          <p:cNvPr id="15" name="object 15"/>
          <p:cNvSpPr txBox="1"/>
          <p:nvPr/>
        </p:nvSpPr>
        <p:spPr>
          <a:xfrm>
            <a:off x="1084617" y="4684245"/>
            <a:ext cx="998855" cy="346075"/>
          </a:xfrm>
          <a:prstGeom prst="rect">
            <a:avLst/>
          </a:prstGeom>
        </p:spPr>
        <p:txBody>
          <a:bodyPr vert="horz" wrap="square" lIns="0" tIns="12700" rIns="0" bIns="0" rtlCol="0">
            <a:spAutoFit/>
          </a:bodyPr>
          <a:lstStyle/>
          <a:p>
            <a:pPr marL="201295" indent="-188595">
              <a:lnSpc>
                <a:spcPct val="100000"/>
              </a:lnSpc>
              <a:spcBef>
                <a:spcPts val="100"/>
              </a:spcBef>
              <a:buFont typeface="Arial MT"/>
              <a:buChar char="•"/>
              <a:tabLst>
                <a:tab pos="201295" algn="l"/>
              </a:tabLst>
            </a:pPr>
            <a:r>
              <a:rPr sz="2100" b="1" spc="-10" dirty="0">
                <a:latin typeface="Times New Roman"/>
                <a:cs typeface="Times New Roman"/>
              </a:rPr>
              <a:t>Recall</a:t>
            </a:r>
            <a:r>
              <a:rPr sz="2100" spc="-10" dirty="0">
                <a:latin typeface="Times New Roman"/>
                <a:cs typeface="Times New Roman"/>
              </a:rPr>
              <a:t>:</a:t>
            </a:r>
            <a:endParaRPr sz="2100">
              <a:latin typeface="Times New Roman"/>
              <a:cs typeface="Times New Roman"/>
            </a:endParaRPr>
          </a:p>
        </p:txBody>
      </p:sp>
      <p:sp>
        <p:nvSpPr>
          <p:cNvPr id="16" name="object 16"/>
          <p:cNvSpPr txBox="1"/>
          <p:nvPr/>
        </p:nvSpPr>
        <p:spPr>
          <a:xfrm>
            <a:off x="4310918" y="5110980"/>
            <a:ext cx="1038860"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𝑅𝑒𝑐𝑎𝑙𝑙</a:t>
            </a:r>
            <a:r>
              <a:rPr sz="2100" spc="70" dirty="0">
                <a:latin typeface="Cambria Math"/>
                <a:cs typeface="Cambria Math"/>
              </a:rPr>
              <a:t> </a:t>
            </a:r>
            <a:r>
              <a:rPr sz="2100" spc="-50" dirty="0">
                <a:latin typeface="Cambria Math"/>
                <a:cs typeface="Cambria Math"/>
              </a:rPr>
              <a:t>=</a:t>
            </a:r>
            <a:endParaRPr sz="2100">
              <a:latin typeface="Cambria Math"/>
              <a:cs typeface="Cambria Math"/>
            </a:endParaRPr>
          </a:p>
        </p:txBody>
      </p:sp>
      <p:sp>
        <p:nvSpPr>
          <p:cNvPr id="17" name="object 17"/>
          <p:cNvSpPr txBox="1"/>
          <p:nvPr/>
        </p:nvSpPr>
        <p:spPr>
          <a:xfrm>
            <a:off x="5714479" y="4909727"/>
            <a:ext cx="348615" cy="346075"/>
          </a:xfrm>
          <a:prstGeom prst="rect">
            <a:avLst/>
          </a:prstGeom>
        </p:spPr>
        <p:txBody>
          <a:bodyPr vert="horz" wrap="square" lIns="0" tIns="12700" rIns="0" bIns="0" rtlCol="0">
            <a:spAutoFit/>
          </a:bodyPr>
          <a:lstStyle/>
          <a:p>
            <a:pPr marL="12700">
              <a:lnSpc>
                <a:spcPct val="100000"/>
              </a:lnSpc>
              <a:spcBef>
                <a:spcPts val="100"/>
              </a:spcBef>
            </a:pPr>
            <a:r>
              <a:rPr sz="2100" spc="-25" dirty="0">
                <a:latin typeface="Cambria Math"/>
                <a:cs typeface="Cambria Math"/>
              </a:rPr>
              <a:t>𝑇𝑃</a:t>
            </a:r>
            <a:endParaRPr sz="2100">
              <a:latin typeface="Cambria Math"/>
              <a:cs typeface="Cambria Math"/>
            </a:endParaRPr>
          </a:p>
        </p:txBody>
      </p:sp>
      <p:sp>
        <p:nvSpPr>
          <p:cNvPr id="18" name="object 18"/>
          <p:cNvSpPr/>
          <p:nvPr/>
        </p:nvSpPr>
        <p:spPr>
          <a:xfrm>
            <a:off x="5411723" y="5306567"/>
            <a:ext cx="955675" cy="18415"/>
          </a:xfrm>
          <a:custGeom>
            <a:avLst/>
            <a:gdLst/>
            <a:ahLst/>
            <a:cxnLst/>
            <a:rect l="l" t="t" r="r" b="b"/>
            <a:pathLst>
              <a:path w="955675" h="18414">
                <a:moveTo>
                  <a:pt x="955548" y="18287"/>
                </a:moveTo>
                <a:lnTo>
                  <a:pt x="0" y="18287"/>
                </a:lnTo>
                <a:lnTo>
                  <a:pt x="0" y="0"/>
                </a:lnTo>
                <a:lnTo>
                  <a:pt x="955548" y="0"/>
                </a:lnTo>
                <a:lnTo>
                  <a:pt x="955548" y="18287"/>
                </a:lnTo>
                <a:close/>
              </a:path>
            </a:pathLst>
          </a:custGeom>
          <a:solidFill>
            <a:srgbClr val="000000"/>
          </a:solidFill>
        </p:spPr>
        <p:txBody>
          <a:bodyPr wrap="square" lIns="0" tIns="0" rIns="0" bIns="0" rtlCol="0"/>
          <a:lstStyle/>
          <a:p>
            <a:endParaRPr/>
          </a:p>
        </p:txBody>
      </p:sp>
      <p:sp>
        <p:nvSpPr>
          <p:cNvPr id="19" name="object 19"/>
          <p:cNvSpPr txBox="1"/>
          <p:nvPr/>
        </p:nvSpPr>
        <p:spPr>
          <a:xfrm>
            <a:off x="5398987" y="5289177"/>
            <a:ext cx="981075"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𝑇𝑃</a:t>
            </a:r>
            <a:r>
              <a:rPr sz="2100" spc="-10" dirty="0">
                <a:latin typeface="Cambria Math"/>
                <a:cs typeface="Cambria Math"/>
              </a:rPr>
              <a:t> </a:t>
            </a:r>
            <a:r>
              <a:rPr sz="2100" dirty="0">
                <a:latin typeface="Arial MT"/>
                <a:cs typeface="Arial MT"/>
              </a:rPr>
              <a:t>+</a:t>
            </a:r>
            <a:r>
              <a:rPr sz="2100" spc="-135" dirty="0">
                <a:latin typeface="Arial MT"/>
                <a:cs typeface="Arial MT"/>
              </a:rPr>
              <a:t> </a:t>
            </a:r>
            <a:r>
              <a:rPr sz="2100" spc="-35" dirty="0">
                <a:latin typeface="Cambria Math"/>
                <a:cs typeface="Cambria Math"/>
              </a:rPr>
              <a:t>𝐹𝑁</a:t>
            </a:r>
            <a:endParaRPr sz="2100">
              <a:latin typeface="Cambria Math"/>
              <a:cs typeface="Cambria Math"/>
            </a:endParaRPr>
          </a:p>
        </p:txBody>
      </p:sp>
      <p:sp>
        <p:nvSpPr>
          <p:cNvPr id="20" name="object 20"/>
          <p:cNvSpPr txBox="1"/>
          <p:nvPr/>
        </p:nvSpPr>
        <p:spPr>
          <a:xfrm>
            <a:off x="1084617" y="5607795"/>
            <a:ext cx="1303655" cy="346075"/>
          </a:xfrm>
          <a:prstGeom prst="rect">
            <a:avLst/>
          </a:prstGeom>
        </p:spPr>
        <p:txBody>
          <a:bodyPr vert="horz" wrap="square" lIns="0" tIns="12700" rIns="0" bIns="0" rtlCol="0">
            <a:spAutoFit/>
          </a:bodyPr>
          <a:lstStyle/>
          <a:p>
            <a:pPr marL="201295" indent="-188595">
              <a:lnSpc>
                <a:spcPct val="100000"/>
              </a:lnSpc>
              <a:spcBef>
                <a:spcPts val="100"/>
              </a:spcBef>
              <a:buFont typeface="Arial MT"/>
              <a:buChar char="•"/>
              <a:tabLst>
                <a:tab pos="201295" algn="l"/>
              </a:tabLst>
            </a:pPr>
            <a:r>
              <a:rPr sz="2100" b="1" spc="-20" dirty="0">
                <a:latin typeface="Times New Roman"/>
                <a:cs typeface="Times New Roman"/>
              </a:rPr>
              <a:t>F1-</a:t>
            </a:r>
            <a:r>
              <a:rPr sz="2100" b="1" spc="-10" dirty="0">
                <a:latin typeface="Times New Roman"/>
                <a:cs typeface="Times New Roman"/>
              </a:rPr>
              <a:t>Score</a:t>
            </a:r>
            <a:r>
              <a:rPr sz="2100" spc="-10" dirty="0">
                <a:latin typeface="Times New Roman"/>
                <a:cs typeface="Times New Roman"/>
              </a:rPr>
              <a:t>:</a:t>
            </a:r>
            <a:endParaRPr sz="2100">
              <a:latin typeface="Times New Roman"/>
              <a:cs typeface="Times New Roman"/>
            </a:endParaRPr>
          </a:p>
        </p:txBody>
      </p:sp>
      <p:sp>
        <p:nvSpPr>
          <p:cNvPr id="21" name="object 21"/>
          <p:cNvSpPr txBox="1"/>
          <p:nvPr/>
        </p:nvSpPr>
        <p:spPr>
          <a:xfrm>
            <a:off x="3684493" y="6042084"/>
            <a:ext cx="1080770"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𝐹1</a:t>
            </a:r>
            <a:r>
              <a:rPr sz="2100" spc="100" dirty="0">
                <a:latin typeface="Cambria Math"/>
                <a:cs typeface="Cambria Math"/>
              </a:rPr>
              <a:t> </a:t>
            </a:r>
            <a:r>
              <a:rPr sz="2100" dirty="0">
                <a:latin typeface="Cambria Math"/>
                <a:cs typeface="Cambria Math"/>
              </a:rPr>
              <a:t>=</a:t>
            </a:r>
            <a:r>
              <a:rPr sz="2100" spc="100" dirty="0">
                <a:latin typeface="Cambria Math"/>
                <a:cs typeface="Cambria Math"/>
              </a:rPr>
              <a:t> </a:t>
            </a:r>
            <a:r>
              <a:rPr sz="2100" dirty="0">
                <a:latin typeface="Cambria Math"/>
                <a:cs typeface="Cambria Math"/>
              </a:rPr>
              <a:t>2</a:t>
            </a:r>
            <a:r>
              <a:rPr sz="2100" spc="5" dirty="0">
                <a:latin typeface="Cambria Math"/>
                <a:cs typeface="Cambria Math"/>
              </a:rPr>
              <a:t> </a:t>
            </a:r>
            <a:r>
              <a:rPr sz="2100" spc="-50" dirty="0">
                <a:latin typeface="Cambria Math"/>
                <a:cs typeface="Cambria Math"/>
              </a:rPr>
              <a:t>×</a:t>
            </a:r>
            <a:endParaRPr sz="2100">
              <a:latin typeface="Cambria Math"/>
              <a:cs typeface="Cambria Math"/>
            </a:endParaRPr>
          </a:p>
        </p:txBody>
      </p:sp>
      <p:sp>
        <p:nvSpPr>
          <p:cNvPr id="22" name="object 22"/>
          <p:cNvSpPr txBox="1"/>
          <p:nvPr/>
        </p:nvSpPr>
        <p:spPr>
          <a:xfrm>
            <a:off x="4797051" y="5842394"/>
            <a:ext cx="2207895"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𝑃𝑟𝑒𝑐𝑖𝑠𝑖𝑜𝑛</a:t>
            </a:r>
            <a:r>
              <a:rPr sz="2100" spc="-25" dirty="0">
                <a:latin typeface="Cambria Math"/>
                <a:cs typeface="Cambria Math"/>
              </a:rPr>
              <a:t> </a:t>
            </a:r>
            <a:r>
              <a:rPr sz="2100" dirty="0">
                <a:latin typeface="Cambria Math"/>
                <a:cs typeface="Cambria Math"/>
              </a:rPr>
              <a:t>×</a:t>
            </a:r>
            <a:r>
              <a:rPr sz="2100" spc="-25" dirty="0">
                <a:latin typeface="Cambria Math"/>
                <a:cs typeface="Cambria Math"/>
              </a:rPr>
              <a:t> </a:t>
            </a:r>
            <a:r>
              <a:rPr sz="2100" spc="-10" dirty="0">
                <a:latin typeface="Cambria Math"/>
                <a:cs typeface="Cambria Math"/>
              </a:rPr>
              <a:t>𝑅𝑒𝑐𝑎𝑙𝑙</a:t>
            </a:r>
            <a:endParaRPr sz="2100">
              <a:latin typeface="Cambria Math"/>
              <a:cs typeface="Cambria Math"/>
            </a:endParaRPr>
          </a:p>
        </p:txBody>
      </p:sp>
      <p:sp>
        <p:nvSpPr>
          <p:cNvPr id="23" name="object 23"/>
          <p:cNvSpPr/>
          <p:nvPr/>
        </p:nvSpPr>
        <p:spPr>
          <a:xfrm>
            <a:off x="4809744" y="6237732"/>
            <a:ext cx="2182495" cy="18415"/>
          </a:xfrm>
          <a:custGeom>
            <a:avLst/>
            <a:gdLst/>
            <a:ahLst/>
            <a:cxnLst/>
            <a:rect l="l" t="t" r="r" b="b"/>
            <a:pathLst>
              <a:path w="2182495" h="18414">
                <a:moveTo>
                  <a:pt x="2182368" y="18287"/>
                </a:moveTo>
                <a:lnTo>
                  <a:pt x="0" y="18287"/>
                </a:lnTo>
                <a:lnTo>
                  <a:pt x="0" y="0"/>
                </a:lnTo>
                <a:lnTo>
                  <a:pt x="2182368" y="0"/>
                </a:lnTo>
                <a:lnTo>
                  <a:pt x="2182368" y="18287"/>
                </a:lnTo>
                <a:close/>
              </a:path>
            </a:pathLst>
          </a:custGeom>
          <a:solidFill>
            <a:srgbClr val="000000"/>
          </a:solidFill>
        </p:spPr>
        <p:txBody>
          <a:bodyPr wrap="square" lIns="0" tIns="0" rIns="0" bIns="0" rtlCol="0"/>
          <a:lstStyle/>
          <a:p>
            <a:endParaRPr/>
          </a:p>
        </p:txBody>
      </p:sp>
      <p:sp>
        <p:nvSpPr>
          <p:cNvPr id="24" name="object 24"/>
          <p:cNvSpPr txBox="1"/>
          <p:nvPr/>
        </p:nvSpPr>
        <p:spPr>
          <a:xfrm>
            <a:off x="4813855" y="6220411"/>
            <a:ext cx="2174240" cy="346075"/>
          </a:xfrm>
          <a:prstGeom prst="rect">
            <a:avLst/>
          </a:prstGeom>
        </p:spPr>
        <p:txBody>
          <a:bodyPr vert="horz" wrap="square" lIns="0" tIns="12700" rIns="0" bIns="0" rtlCol="0">
            <a:spAutoFit/>
          </a:bodyPr>
          <a:lstStyle/>
          <a:p>
            <a:pPr marL="12700">
              <a:lnSpc>
                <a:spcPct val="100000"/>
              </a:lnSpc>
              <a:spcBef>
                <a:spcPts val="100"/>
              </a:spcBef>
            </a:pPr>
            <a:r>
              <a:rPr sz="2100" dirty="0">
                <a:latin typeface="Cambria Math"/>
                <a:cs typeface="Cambria Math"/>
              </a:rPr>
              <a:t>𝑃𝑟𝑒𝑐𝑖𝑠𝑖𝑜𝑛</a:t>
            </a:r>
            <a:r>
              <a:rPr sz="2100" spc="-25" dirty="0">
                <a:latin typeface="Cambria Math"/>
                <a:cs typeface="Cambria Math"/>
              </a:rPr>
              <a:t> </a:t>
            </a:r>
            <a:r>
              <a:rPr sz="2100" dirty="0">
                <a:latin typeface="Arial MT"/>
                <a:cs typeface="Arial MT"/>
              </a:rPr>
              <a:t>+</a:t>
            </a:r>
            <a:r>
              <a:rPr sz="2100" spc="-140" dirty="0">
                <a:latin typeface="Arial MT"/>
                <a:cs typeface="Arial MT"/>
              </a:rPr>
              <a:t> </a:t>
            </a:r>
            <a:r>
              <a:rPr sz="2100" spc="-10" dirty="0">
                <a:latin typeface="Cambria Math"/>
                <a:cs typeface="Cambria Math"/>
              </a:rPr>
              <a:t>𝑅𝑒𝑐𝑎𝑙𝑙</a:t>
            </a:r>
            <a:endParaRPr sz="2100">
              <a:latin typeface="Cambria Math"/>
              <a:cs typeface="Cambria Math"/>
            </a:endParaRPr>
          </a:p>
        </p:txBody>
      </p:sp>
      <p:sp>
        <p:nvSpPr>
          <p:cNvPr id="25" name="object 25"/>
          <p:cNvSpPr txBox="1"/>
          <p:nvPr/>
        </p:nvSpPr>
        <p:spPr>
          <a:xfrm>
            <a:off x="4694897" y="7143391"/>
            <a:ext cx="1299210" cy="141064"/>
          </a:xfrm>
          <a:prstGeom prst="rect">
            <a:avLst/>
          </a:prstGeom>
        </p:spPr>
        <p:txBody>
          <a:bodyPr vert="horz" wrap="square" lIns="0" tIns="0" rIns="0" bIns="0" rtlCol="0">
            <a:spAutoFit/>
          </a:bodyPr>
          <a:lstStyle/>
          <a:p>
            <a:pPr marL="12700">
              <a:lnSpc>
                <a:spcPts val="1050"/>
              </a:lnSpc>
              <a:tabLst>
                <a:tab pos="584200" algn="l"/>
              </a:tabLst>
            </a:pPr>
            <a:r>
              <a:rPr sz="1000" dirty="0">
                <a:solidFill>
                  <a:srgbClr val="898989"/>
                </a:solidFill>
                <a:latin typeface="Calibri"/>
                <a:cs typeface="Calibri"/>
              </a:rPr>
              <a:t>IV</a:t>
            </a:r>
            <a:r>
              <a:rPr sz="1000" spc="35" dirty="0">
                <a:solidFill>
                  <a:srgbClr val="898989"/>
                </a:solidFill>
                <a:latin typeface="Calibri"/>
                <a:cs typeface="Calibri"/>
              </a:rPr>
              <a:t> </a:t>
            </a:r>
            <a:r>
              <a:rPr sz="1000" spc="-20" dirty="0">
                <a:solidFill>
                  <a:srgbClr val="898989"/>
                </a:solidFill>
                <a:latin typeface="Calibri"/>
                <a:cs typeface="Calibri"/>
              </a:rPr>
              <a:t>ECE-</a:t>
            </a:r>
            <a:r>
              <a:rPr sz="1000" spc="-50" dirty="0">
                <a:solidFill>
                  <a:srgbClr val="898989"/>
                </a:solidFill>
                <a:latin typeface="Calibri"/>
                <a:cs typeface="Calibri"/>
              </a:rPr>
              <a:t>C</a:t>
            </a:r>
            <a:r>
              <a:rPr sz="1000" dirty="0">
                <a:solidFill>
                  <a:srgbClr val="898989"/>
                </a:solidFill>
                <a:latin typeface="Calibri"/>
                <a:cs typeface="Calibri"/>
              </a:rPr>
              <a:t>	BATCH</a:t>
            </a:r>
            <a:r>
              <a:rPr sz="1000" spc="-55" dirty="0">
                <a:solidFill>
                  <a:srgbClr val="898989"/>
                </a:solidFill>
                <a:latin typeface="Calibri"/>
                <a:cs typeface="Calibri"/>
              </a:rPr>
              <a:t> </a:t>
            </a:r>
            <a:r>
              <a:rPr sz="1000" spc="-20" dirty="0">
                <a:solidFill>
                  <a:srgbClr val="898989"/>
                </a:solidFill>
                <a:latin typeface="Calibri"/>
                <a:cs typeface="Calibri"/>
              </a:rPr>
              <a:t>NO.2</a:t>
            </a:r>
            <a:endParaRPr sz="1000" dirty="0">
              <a:latin typeface="Calibri"/>
              <a:cs typeface="Calibri"/>
            </a:endParaRPr>
          </a:p>
        </p:txBody>
      </p:sp>
      <p:sp>
        <p:nvSpPr>
          <p:cNvPr id="26" name="object 26"/>
          <p:cNvSpPr txBox="1">
            <a:spLocks noGrp="1"/>
          </p:cNvSpPr>
          <p:nvPr>
            <p:ph type="sldNum" sz="quarter" idx="7"/>
          </p:nvPr>
        </p:nvSpPr>
        <p:spPr>
          <a:prstGeom prst="rect">
            <a:avLst/>
          </a:prstGeom>
        </p:spPr>
        <p:txBody>
          <a:bodyPr vert="horz" wrap="square" lIns="0" tIns="0" rIns="0" bIns="0" rtlCol="0">
            <a:spAutoFit/>
          </a:bodyPr>
          <a:lstStyle/>
          <a:p>
            <a:pPr marL="12700">
              <a:lnSpc>
                <a:spcPts val="1050"/>
              </a:lnSpc>
            </a:pPr>
            <a:r>
              <a:rPr spc="-25" dirty="0"/>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02245" y="61744"/>
            <a:ext cx="321564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pic>
        <p:nvPicPr>
          <p:cNvPr id="3" name="object 3"/>
          <p:cNvPicPr/>
          <p:nvPr/>
        </p:nvPicPr>
        <p:blipFill>
          <a:blip r:embed="rId2" cstate="print"/>
          <a:stretch>
            <a:fillRect/>
          </a:stretch>
        </p:blipFill>
        <p:spPr>
          <a:xfrm>
            <a:off x="316991" y="94654"/>
            <a:ext cx="627887" cy="449146"/>
          </a:xfrm>
          <a:prstGeom prst="rect">
            <a:avLst/>
          </a:prstGeom>
        </p:spPr>
      </p:pic>
      <p:sp>
        <p:nvSpPr>
          <p:cNvPr id="4" name="object 4"/>
          <p:cNvSpPr txBox="1">
            <a:spLocks noGrp="1"/>
          </p:cNvSpPr>
          <p:nvPr>
            <p:ph type="title"/>
          </p:nvPr>
        </p:nvSpPr>
        <p:spPr>
          <a:prstGeom prst="rect">
            <a:avLst/>
          </a:prstGeom>
        </p:spPr>
        <p:txBody>
          <a:bodyPr vert="horz" wrap="square" lIns="0" tIns="361417" rIns="0" bIns="0" rtlCol="0">
            <a:spAutoFit/>
          </a:bodyPr>
          <a:lstStyle/>
          <a:p>
            <a:pPr marL="1969135">
              <a:lnSpc>
                <a:spcPct val="100000"/>
              </a:lnSpc>
              <a:spcBef>
                <a:spcPts val="130"/>
              </a:spcBef>
            </a:pPr>
            <a:r>
              <a:rPr b="1" spc="-10" dirty="0"/>
              <a:t>REFERENCES</a:t>
            </a:r>
          </a:p>
        </p:txBody>
      </p:sp>
      <p:sp>
        <p:nvSpPr>
          <p:cNvPr id="5" name="object 5"/>
          <p:cNvSpPr txBox="1">
            <a:spLocks noGrp="1"/>
          </p:cNvSpPr>
          <p:nvPr>
            <p:ph type="body" idx="1"/>
          </p:nvPr>
        </p:nvSpPr>
        <p:spPr>
          <a:xfrm>
            <a:off x="469900" y="2014292"/>
            <a:ext cx="9906000" cy="4792659"/>
          </a:xfrm>
          <a:prstGeom prst="rect">
            <a:avLst/>
          </a:prstGeom>
        </p:spPr>
        <p:txBody>
          <a:bodyPr vert="horz" wrap="square" lIns="0" tIns="44450" rIns="0" bIns="0" rtlCol="0">
            <a:spAutoFit/>
          </a:bodyPr>
          <a:lstStyle/>
          <a:p>
            <a:pPr marL="342900" indent="-342900">
              <a:buFont typeface="Arial" panose="020B0604020202020204" pitchFamily="34" charset="0"/>
              <a:buChar char="•"/>
            </a:pPr>
            <a:r>
              <a:rPr lang="en-IN" sz="2400" dirty="0"/>
              <a:t>Z. Liu, L. Yang, Z. Fan, H. Peng, and P. S. Yu, “Federated social recommendation with graph neural networks,” </a:t>
            </a:r>
            <a:r>
              <a:rPr lang="en-IN" sz="2400" i="1" dirty="0" err="1"/>
              <a:t>arXiv</a:t>
            </a:r>
            <a:r>
              <a:rPr lang="en-IN" sz="2400" i="1" dirty="0"/>
              <a:t> preprint</a:t>
            </a:r>
            <a:r>
              <a:rPr lang="en-IN" sz="2400" dirty="0"/>
              <a:t>, 2021.</a:t>
            </a:r>
          </a:p>
          <a:p>
            <a:pPr marL="342900" indent="-342900">
              <a:buFont typeface="Arial" panose="020B0604020202020204" pitchFamily="34" charset="0"/>
              <a:buChar char="•"/>
            </a:pPr>
            <a:r>
              <a:rPr lang="en-IN" sz="2400" dirty="0"/>
              <a:t>C. Ma, X. Ren, G. Xu, and B. He, “</a:t>
            </a:r>
            <a:r>
              <a:rPr lang="en-IN" sz="2400" dirty="0" err="1"/>
              <a:t>FedGR</a:t>
            </a:r>
            <a:r>
              <a:rPr lang="en-IN" sz="2400" dirty="0"/>
              <a:t>: Federated graph neural network for recommendation systems,” </a:t>
            </a:r>
            <a:r>
              <a:rPr lang="en-IN" sz="2400" i="1" dirty="0"/>
              <a:t>Complexity</a:t>
            </a:r>
            <a:r>
              <a:rPr lang="en-IN" sz="2400" dirty="0"/>
              <a:t>, 2023.</a:t>
            </a:r>
          </a:p>
          <a:p>
            <a:pPr marL="342900" indent="-342900">
              <a:buFont typeface="Arial" panose="020B0604020202020204" pitchFamily="34" charset="0"/>
              <a:buChar char="•"/>
            </a:pPr>
            <a:r>
              <a:rPr lang="en-IN" sz="2400" dirty="0"/>
              <a:t>N. B. </a:t>
            </a:r>
            <a:r>
              <a:rPr lang="en-IN" sz="2400" dirty="0" err="1"/>
              <a:t>Muddangala</a:t>
            </a:r>
            <a:r>
              <a:rPr lang="en-IN" sz="2400" dirty="0"/>
              <a:t>, T. S. Senthilkumar, et al., “A privacy-preserving, explainable job recommendation system using transformer-based NLP,” in </a:t>
            </a:r>
            <a:r>
              <a:rPr lang="en-IN" sz="2400" i="1" dirty="0"/>
              <a:t>Proc. ICOFE</a:t>
            </a:r>
            <a:r>
              <a:rPr lang="en-IN" sz="2400" dirty="0"/>
              <a:t>, 2024.</a:t>
            </a:r>
          </a:p>
          <a:p>
            <a:pPr marL="342900" indent="-342900">
              <a:buFont typeface="Arial" panose="020B0604020202020204" pitchFamily="34" charset="0"/>
              <a:buChar char="•"/>
            </a:pPr>
            <a:r>
              <a:rPr lang="en-IN" sz="2400" dirty="0"/>
              <a:t>F. Tang, R. Zhu, F. Yao, J. Wang, L. Luo, and B. Li, “Explainable person–job recommendations: Challenges, approaches and comparative analysis,” </a:t>
            </a:r>
            <a:r>
              <a:rPr lang="en-IN" sz="2400" i="1" dirty="0"/>
              <a:t>Frontiers in Artificial Intelligence</a:t>
            </a:r>
            <a:r>
              <a:rPr lang="en-IN" sz="2400" dirty="0"/>
              <a:t>, 2025.</a:t>
            </a:r>
          </a:p>
          <a:p>
            <a:pPr marL="342900" indent="-342900">
              <a:buFont typeface="Arial" panose="020B0604020202020204" pitchFamily="34" charset="0"/>
              <a:buChar char="•"/>
            </a:pPr>
            <a:r>
              <a:rPr lang="en-IN" sz="2400" dirty="0"/>
              <a:t>C. Wu, F. Wu, Y. Huang, and X. Xie, “</a:t>
            </a:r>
            <a:r>
              <a:rPr lang="en-IN" sz="2400" dirty="0" err="1"/>
              <a:t>FedGNN</a:t>
            </a:r>
            <a:r>
              <a:rPr lang="en-IN" sz="2400" dirty="0"/>
              <a:t>: Federated graph neural network for privacy-preserving recommendation,” </a:t>
            </a:r>
            <a:r>
              <a:rPr lang="en-IN" sz="2400" i="1" dirty="0" err="1"/>
              <a:t>arXiv</a:t>
            </a:r>
            <a:r>
              <a:rPr lang="en-IN" sz="2400" i="1" dirty="0"/>
              <a:t> preprint</a:t>
            </a:r>
            <a:r>
              <a:rPr lang="en-IN" sz="2400" dirty="0"/>
              <a:t>, 2021.</a:t>
            </a:r>
          </a:p>
          <a:p>
            <a:pPr marL="201295" marR="93980" indent="-189230">
              <a:lnSpc>
                <a:spcPts val="1980"/>
              </a:lnSpc>
              <a:spcBef>
                <a:spcPts val="350"/>
              </a:spcBef>
              <a:buFont typeface="Arial MT"/>
              <a:buChar char="•"/>
              <a:tabLst>
                <a:tab pos="201295" algn="l"/>
              </a:tabLst>
            </a:pPr>
            <a:endParaRPr sz="2400" spc="-10" dirty="0"/>
          </a:p>
        </p:txBody>
      </p:sp>
      <p:sp>
        <p:nvSpPr>
          <p:cNvPr id="7" name="object 7"/>
          <p:cNvSpPr txBox="1"/>
          <p:nvPr/>
        </p:nvSpPr>
        <p:spPr>
          <a:xfrm>
            <a:off x="4695254" y="7111707"/>
            <a:ext cx="1297940" cy="166071"/>
          </a:xfrm>
          <a:prstGeom prst="rect">
            <a:avLst/>
          </a:prstGeom>
        </p:spPr>
        <p:txBody>
          <a:bodyPr vert="horz" wrap="square" lIns="0" tIns="12065" rIns="0" bIns="0" rtlCol="0">
            <a:spAutoFit/>
          </a:bodyPr>
          <a:lstStyle/>
          <a:p>
            <a:pPr marL="12700">
              <a:lnSpc>
                <a:spcPct val="100000"/>
              </a:lnSpc>
              <a:spcBef>
                <a:spcPts val="95"/>
              </a:spcBef>
              <a:tabLst>
                <a:tab pos="584200" algn="l"/>
              </a:tabLst>
            </a:pPr>
            <a:r>
              <a:rPr sz="1000" dirty="0">
                <a:solidFill>
                  <a:srgbClr val="898989"/>
                </a:solidFill>
                <a:latin typeface="Calibri"/>
                <a:cs typeface="Calibri"/>
              </a:rPr>
              <a:t>IV</a:t>
            </a:r>
            <a:r>
              <a:rPr sz="1000" spc="-5" dirty="0">
                <a:solidFill>
                  <a:srgbClr val="898989"/>
                </a:solidFill>
                <a:latin typeface="Calibri"/>
                <a:cs typeface="Calibri"/>
              </a:rPr>
              <a:t> </a:t>
            </a:r>
            <a:r>
              <a:rPr sz="1000" spc="-10" dirty="0">
                <a:solidFill>
                  <a:srgbClr val="898989"/>
                </a:solidFill>
                <a:latin typeface="Calibri"/>
                <a:cs typeface="Calibri"/>
              </a:rPr>
              <a:t>ECE-</a:t>
            </a:r>
            <a:r>
              <a:rPr sz="1000" spc="-50" dirty="0">
                <a:solidFill>
                  <a:srgbClr val="898989"/>
                </a:solidFill>
                <a:latin typeface="Calibri"/>
                <a:cs typeface="Calibri"/>
              </a:rPr>
              <a:t>C</a:t>
            </a:r>
            <a:r>
              <a:rPr sz="1000" dirty="0">
                <a:solidFill>
                  <a:srgbClr val="898989"/>
                </a:solidFill>
                <a:latin typeface="Calibri"/>
                <a:cs typeface="Calibri"/>
              </a:rPr>
              <a:t>	BATCH</a:t>
            </a:r>
            <a:r>
              <a:rPr sz="1000" spc="-55" dirty="0">
                <a:solidFill>
                  <a:srgbClr val="898989"/>
                </a:solidFill>
                <a:latin typeface="Calibri"/>
                <a:cs typeface="Calibri"/>
              </a:rPr>
              <a:t> </a:t>
            </a:r>
            <a:r>
              <a:rPr sz="1000" spc="-20" dirty="0">
                <a:solidFill>
                  <a:srgbClr val="898989"/>
                </a:solidFill>
                <a:latin typeface="Calibri"/>
                <a:cs typeface="Calibri"/>
              </a:rPr>
              <a:t>NO.</a:t>
            </a:r>
            <a:r>
              <a:rPr lang="en-US" sz="1000" spc="-20" dirty="0">
                <a:solidFill>
                  <a:srgbClr val="898989"/>
                </a:solidFill>
                <a:latin typeface="Calibri"/>
                <a:cs typeface="Calibri"/>
              </a:rPr>
              <a:t>2</a:t>
            </a:r>
            <a:endParaRPr sz="1000" dirty="0">
              <a:latin typeface="Calibri"/>
              <a:cs typeface="Calibri"/>
            </a:endParaRPr>
          </a:p>
        </p:txBody>
      </p:sp>
      <p:sp>
        <p:nvSpPr>
          <p:cNvPr id="8" name="object 8"/>
          <p:cNvSpPr txBox="1"/>
          <p:nvPr/>
        </p:nvSpPr>
        <p:spPr>
          <a:xfrm>
            <a:off x="9451595" y="7111707"/>
            <a:ext cx="153035" cy="177800"/>
          </a:xfrm>
          <a:prstGeom prst="rect">
            <a:avLst/>
          </a:prstGeom>
        </p:spPr>
        <p:txBody>
          <a:bodyPr vert="horz" wrap="square" lIns="0" tIns="12065" rIns="0" bIns="0" rtlCol="0">
            <a:spAutoFit/>
          </a:bodyPr>
          <a:lstStyle/>
          <a:p>
            <a:pPr marL="12700">
              <a:lnSpc>
                <a:spcPct val="100000"/>
              </a:lnSpc>
              <a:spcBef>
                <a:spcPts val="95"/>
              </a:spcBef>
            </a:pPr>
            <a:r>
              <a:rPr sz="1000" spc="-25" dirty="0">
                <a:solidFill>
                  <a:srgbClr val="898989"/>
                </a:solidFill>
                <a:latin typeface="Calibri"/>
                <a:cs typeface="Calibri"/>
              </a:rPr>
              <a:t>13</a:t>
            </a:r>
            <a:endParaRPr sz="1000">
              <a:latin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014945" y="88243"/>
            <a:ext cx="3190240" cy="140970"/>
          </a:xfrm>
          <a:prstGeom prst="rect">
            <a:avLst/>
          </a:prstGeom>
        </p:spPr>
        <p:txBody>
          <a:bodyPr vert="horz" wrap="square" lIns="0" tIns="0" rIns="0" bIns="0" rtlCol="0">
            <a:spAutoFit/>
          </a:bodyPr>
          <a:lstStyle/>
          <a:p>
            <a:pPr>
              <a:lnSpc>
                <a:spcPts val="1090"/>
              </a:lnSpc>
            </a:pPr>
            <a:r>
              <a:rPr sz="1000" spc="-10" dirty="0">
                <a:solidFill>
                  <a:srgbClr val="001F60"/>
                </a:solidFill>
                <a:latin typeface="Times New Roman"/>
                <a:cs typeface="Times New Roman"/>
              </a:rPr>
              <a:t>ADITYA</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COLLEGE</a:t>
            </a:r>
            <a:r>
              <a:rPr sz="1000" spc="-20" dirty="0">
                <a:solidFill>
                  <a:srgbClr val="001F60"/>
                </a:solidFill>
                <a:latin typeface="Times New Roman"/>
                <a:cs typeface="Times New Roman"/>
              </a:rPr>
              <a:t> </a:t>
            </a:r>
            <a:r>
              <a:rPr sz="1000" dirty="0">
                <a:solidFill>
                  <a:srgbClr val="001F60"/>
                </a:solidFill>
                <a:latin typeface="Times New Roman"/>
                <a:cs typeface="Times New Roman"/>
              </a:rPr>
              <a:t>OF</a:t>
            </a:r>
            <a:r>
              <a:rPr sz="1000" spc="-15" dirty="0">
                <a:solidFill>
                  <a:srgbClr val="001F60"/>
                </a:solidFill>
                <a:latin typeface="Times New Roman"/>
                <a:cs typeface="Times New Roman"/>
              </a:rPr>
              <a:t> </a:t>
            </a:r>
            <a:r>
              <a:rPr sz="1000" spc="-10" dirty="0">
                <a:solidFill>
                  <a:srgbClr val="001F60"/>
                </a:solidFill>
                <a:latin typeface="Times New Roman"/>
                <a:cs typeface="Times New Roman"/>
              </a:rPr>
              <a:t>ENGINEERING</a:t>
            </a:r>
            <a:r>
              <a:rPr sz="1000" spc="-20" dirty="0">
                <a:solidFill>
                  <a:srgbClr val="001F60"/>
                </a:solidFill>
                <a:latin typeface="Times New Roman"/>
                <a:cs typeface="Times New Roman"/>
              </a:rPr>
              <a:t> </a:t>
            </a:r>
            <a:r>
              <a:rPr sz="1000" dirty="0">
                <a:solidFill>
                  <a:srgbClr val="001F60"/>
                </a:solidFill>
                <a:latin typeface="Times New Roman"/>
                <a:cs typeface="Times New Roman"/>
              </a:rPr>
              <a:t>&amp;</a:t>
            </a:r>
            <a:r>
              <a:rPr sz="1000" spc="-25" dirty="0">
                <a:solidFill>
                  <a:srgbClr val="001F60"/>
                </a:solidFill>
                <a:latin typeface="Times New Roman"/>
                <a:cs typeface="Times New Roman"/>
              </a:rPr>
              <a:t> </a:t>
            </a:r>
            <a:r>
              <a:rPr sz="1000" spc="-10" dirty="0">
                <a:solidFill>
                  <a:srgbClr val="001F60"/>
                </a:solidFill>
                <a:latin typeface="Times New Roman"/>
                <a:cs typeface="Times New Roman"/>
              </a:rPr>
              <a:t>TECHNOLOGY</a:t>
            </a:r>
            <a:endParaRPr sz="1000">
              <a:latin typeface="Times New Roman"/>
              <a:cs typeface="Times New Roman"/>
            </a:endParaRPr>
          </a:p>
        </p:txBody>
      </p:sp>
      <p:sp>
        <p:nvSpPr>
          <p:cNvPr id="6" name="object 6"/>
          <p:cNvSpPr txBox="1"/>
          <p:nvPr/>
        </p:nvSpPr>
        <p:spPr>
          <a:xfrm>
            <a:off x="4707119" y="7111707"/>
            <a:ext cx="1276350" cy="166071"/>
          </a:xfrm>
          <a:prstGeom prst="rect">
            <a:avLst/>
          </a:prstGeom>
        </p:spPr>
        <p:txBody>
          <a:bodyPr vert="horz" wrap="square" lIns="0" tIns="12065" rIns="0" bIns="0" rtlCol="0">
            <a:spAutoFit/>
          </a:bodyPr>
          <a:lstStyle/>
          <a:p>
            <a:pPr marL="12700">
              <a:lnSpc>
                <a:spcPct val="100000"/>
              </a:lnSpc>
              <a:spcBef>
                <a:spcPts val="95"/>
              </a:spcBef>
            </a:pPr>
            <a:r>
              <a:rPr sz="1000" dirty="0">
                <a:solidFill>
                  <a:srgbClr val="898989"/>
                </a:solidFill>
                <a:latin typeface="Calibri"/>
                <a:cs typeface="Calibri"/>
              </a:rPr>
              <a:t>IV </a:t>
            </a:r>
            <a:r>
              <a:rPr sz="1000" spc="-20" dirty="0">
                <a:solidFill>
                  <a:srgbClr val="898989"/>
                </a:solidFill>
                <a:latin typeface="Calibri"/>
                <a:cs typeface="Calibri"/>
              </a:rPr>
              <a:t>ECE-</a:t>
            </a:r>
            <a:r>
              <a:rPr lang="en-US" sz="1000" spc="-20" dirty="0">
                <a:solidFill>
                  <a:srgbClr val="898989"/>
                </a:solidFill>
                <a:latin typeface="Calibri"/>
                <a:cs typeface="Calibri"/>
              </a:rPr>
              <a:t>C</a:t>
            </a:r>
            <a:r>
              <a:rPr sz="1000" spc="215" dirty="0">
                <a:solidFill>
                  <a:srgbClr val="898989"/>
                </a:solidFill>
                <a:latin typeface="Calibri"/>
                <a:cs typeface="Calibri"/>
              </a:rPr>
              <a:t>  </a:t>
            </a:r>
            <a:r>
              <a:rPr sz="1000" dirty="0">
                <a:solidFill>
                  <a:srgbClr val="898989"/>
                </a:solidFill>
                <a:latin typeface="Calibri"/>
                <a:cs typeface="Calibri"/>
              </a:rPr>
              <a:t>BATCH</a:t>
            </a:r>
            <a:r>
              <a:rPr sz="1000" spc="-5" dirty="0">
                <a:solidFill>
                  <a:srgbClr val="898989"/>
                </a:solidFill>
                <a:latin typeface="Calibri"/>
                <a:cs typeface="Calibri"/>
              </a:rPr>
              <a:t> </a:t>
            </a:r>
            <a:r>
              <a:rPr sz="1000" spc="-20" dirty="0">
                <a:solidFill>
                  <a:srgbClr val="898989"/>
                </a:solidFill>
                <a:latin typeface="Calibri"/>
                <a:cs typeface="Calibri"/>
              </a:rPr>
              <a:t>NO.2</a:t>
            </a:r>
            <a:endParaRPr sz="1000" dirty="0">
              <a:latin typeface="Calibri"/>
              <a:cs typeface="Calibri"/>
            </a:endParaRPr>
          </a:p>
        </p:txBody>
      </p:sp>
      <p:sp>
        <p:nvSpPr>
          <p:cNvPr id="7" name="object 7"/>
          <p:cNvSpPr txBox="1"/>
          <p:nvPr/>
        </p:nvSpPr>
        <p:spPr>
          <a:xfrm>
            <a:off x="9450786" y="7111707"/>
            <a:ext cx="154305" cy="177800"/>
          </a:xfrm>
          <a:prstGeom prst="rect">
            <a:avLst/>
          </a:prstGeom>
        </p:spPr>
        <p:txBody>
          <a:bodyPr vert="horz" wrap="square" lIns="0" tIns="12065" rIns="0" bIns="0" rtlCol="0">
            <a:spAutoFit/>
          </a:bodyPr>
          <a:lstStyle/>
          <a:p>
            <a:pPr marL="12700">
              <a:lnSpc>
                <a:spcPct val="100000"/>
              </a:lnSpc>
              <a:spcBef>
                <a:spcPts val="95"/>
              </a:spcBef>
            </a:pPr>
            <a:r>
              <a:rPr sz="1000" spc="-25" dirty="0">
                <a:solidFill>
                  <a:srgbClr val="898989"/>
                </a:solidFill>
                <a:latin typeface="Calibri"/>
                <a:cs typeface="Calibri"/>
              </a:rPr>
              <a:t>14</a:t>
            </a:r>
            <a:endParaRPr sz="1000">
              <a:latin typeface="Calibri"/>
              <a:cs typeface="Calibri"/>
            </a:endParaRPr>
          </a:p>
        </p:txBody>
      </p:sp>
      <p:pic>
        <p:nvPicPr>
          <p:cNvPr id="8" name="Picture 2" descr="thank-you-from-christian-vision-alliance.jpg">
            <a:extLst>
              <a:ext uri="{FF2B5EF4-FFF2-40B4-BE49-F238E27FC236}">
                <a16:creationId xmlns:a16="http://schemas.microsoft.com/office/drawing/2014/main" id="{FD32AA55-FA3D-0FE9-4777-71D3BE2124A4}"/>
              </a:ext>
            </a:extLst>
          </p:cNvPr>
          <p:cNvPicPr>
            <a:picLocks noChangeAspect="1"/>
          </p:cNvPicPr>
          <p:nvPr/>
        </p:nvPicPr>
        <p:blipFill>
          <a:blip r:embed="rId2"/>
          <a:stretch>
            <a:fillRect/>
          </a:stretch>
        </p:blipFill>
        <p:spPr>
          <a:xfrm>
            <a:off x="2146300" y="1952625"/>
            <a:ext cx="6934200" cy="4114800"/>
          </a:xfrm>
          <a:prstGeom prst="rect">
            <a:avLst/>
          </a:prstGeom>
          <a:noFill/>
          <a:ln w="9525">
            <a:noFill/>
          </a:ln>
        </p:spPr>
      </p:pic>
      <p:pic>
        <p:nvPicPr>
          <p:cNvPr id="9" name="object 3">
            <a:extLst>
              <a:ext uri="{FF2B5EF4-FFF2-40B4-BE49-F238E27FC236}">
                <a16:creationId xmlns:a16="http://schemas.microsoft.com/office/drawing/2014/main" id="{8CB21E04-51D5-10C9-E90F-9DA0AB5EF35F}"/>
              </a:ext>
            </a:extLst>
          </p:cNvPr>
          <p:cNvPicPr/>
          <p:nvPr/>
        </p:nvPicPr>
        <p:blipFill>
          <a:blip r:embed="rId3" cstate="print"/>
          <a:stretch>
            <a:fillRect/>
          </a:stretch>
        </p:blipFill>
        <p:spPr>
          <a:xfrm>
            <a:off x="316991" y="94654"/>
            <a:ext cx="627887" cy="44914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90</TotalTime>
  <Words>1142</Words>
  <Application>Microsoft Office PowerPoint</Application>
  <PresentationFormat>Custom</PresentationFormat>
  <Paragraphs>142</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MT</vt:lpstr>
      <vt:lpstr>Calibri</vt:lpstr>
      <vt:lpstr>Cambria Math</vt:lpstr>
      <vt:lpstr>Times New Roman</vt:lpstr>
      <vt:lpstr>Wingdings</vt:lpstr>
      <vt:lpstr>Office Theme</vt:lpstr>
      <vt:lpstr>PROJECT REVIEW PRESENTATION</vt:lpstr>
      <vt:lpstr>PRIVACY-PRESERVING AND EXPLAINABLE AI FOR INTELLIGENT CAMPUS PLACEMENT USING FEDERATED LEARNING AND GRAPH                                              NEURAL NETWORKS    </vt:lpstr>
      <vt:lpstr>AGENDA</vt:lpstr>
      <vt:lpstr>ABSTRACT</vt:lpstr>
      <vt:lpstr>INTRODUCTION</vt:lpstr>
      <vt:lpstr>PROBLEM DEFINITION</vt:lpstr>
      <vt:lpstr>MOTIVATION BEHIND PROBLEM SELECTION</vt:lpstr>
      <vt:lpstr>EXISTING METHODOLOGY</vt:lpstr>
      <vt:lpstr>PROPOSED METHODOLOGY</vt:lpstr>
      <vt:lpstr>PowerPoint Presentation</vt:lpstr>
      <vt:lpstr>FEASIBILITY ANALYSIS</vt:lpstr>
      <vt:lpstr>MATHEMATICAL FORMULATION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REVIEW PPT.pptx</dc:title>
  <dc:creator>Srinija Nabha</dc:creator>
  <cp:lastModifiedBy>Syam Sundar</cp:lastModifiedBy>
  <cp:revision>7</cp:revision>
  <dcterms:created xsi:type="dcterms:W3CDTF">2025-12-22T07:11:30Z</dcterms:created>
  <dcterms:modified xsi:type="dcterms:W3CDTF">2025-12-23T10:36:26Z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2025-12-22T00:00:00Z</vt:filetime>
  </property>
  <property fmtid="{D5CDD505-2E9C-101B-9397-08002B2CF9AE}" pid="3" name="LastSaved">
    <vt:filetime>2025-12-22T00:00:00Z</vt:filetime>
  </property>
  <property fmtid="{D5CDD505-2E9C-101B-9397-08002B2CF9AE}" pid="4" name="Producer">
    <vt:lpwstr>Microsoft: Print To PDF</vt:lpwstr>
  </property>
</Properties>
</file>